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Consolas" charset="1" panose="020B0609020204030204"/>
      <p:regular r:id="rId23"/>
    </p:embeddedFont>
    <p:embeddedFont>
      <p:font typeface="Calibri (MS) Bold Italics" charset="1" panose="020F07020304040A0204"/>
      <p:regular r:id="rId29"/>
    </p:embeddedFont>
    <p:embeddedFont>
      <p:font typeface="Consolas Bold" charset="1" panose="020B07090202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LinkTrifuerza/Pipeline-de-datos-automatizado-ETL-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" cy="10287000"/>
            <a:chOff x="0" y="0"/>
            <a:chExt cx="1219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0" y="0"/>
            <a:ext cx="2743200" cy="10287000"/>
            <a:chOff x="0" y="0"/>
            <a:chExt cx="36576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4800" y="6949440"/>
            <a:ext cx="2743200" cy="3337560"/>
            <a:chOff x="0" y="0"/>
            <a:chExt cx="3657600" cy="445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4450080"/>
            </a:xfrm>
            <a:custGeom>
              <a:avLst/>
              <a:gdLst/>
              <a:ahLst/>
              <a:cxnLst/>
              <a:rect r="r" b="b" t="t" l="l"/>
              <a:pathLst>
                <a:path h="445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450080"/>
                  </a:lnTo>
                  <a:lnTo>
                    <a:pt x="0" y="445008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035700"/>
            <a:ext cx="14520423" cy="2459645"/>
            <a:chOff x="0" y="0"/>
            <a:chExt cx="19360564" cy="32795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60566" cy="3279527"/>
            </a:xfrm>
            <a:custGeom>
              <a:avLst/>
              <a:gdLst/>
              <a:ahLst/>
              <a:cxnLst/>
              <a:rect r="r" b="b" t="t" l="l"/>
              <a:pathLst>
                <a:path h="3279527" w="19360566">
                  <a:moveTo>
                    <a:pt x="0" y="0"/>
                  </a:moveTo>
                  <a:lnTo>
                    <a:pt x="19360566" y="0"/>
                  </a:lnTo>
                  <a:lnTo>
                    <a:pt x="19360566" y="3279527"/>
                  </a:lnTo>
                  <a:lnTo>
                    <a:pt x="0" y="32795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49" r="6799" b="-406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19360564" cy="3422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b="true" sz="6999" spc="20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 de</a:t>
              </a:r>
              <a:r>
                <a:rPr lang="en-US" b="true" sz="6999" spc="20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datos automatizado (ETL)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" y="4297680"/>
            <a:ext cx="10058400" cy="73152"/>
            <a:chOff x="0" y="0"/>
            <a:chExt cx="13411200" cy="97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0" cy="97536"/>
            </a:xfrm>
            <a:custGeom>
              <a:avLst/>
              <a:gdLst/>
              <a:ahLst/>
              <a:cxnLst/>
              <a:rect r="r" b="b" t="t" l="l"/>
              <a:pathLst>
                <a:path h="9753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4572000"/>
            <a:ext cx="13167360" cy="731520"/>
            <a:chOff x="0" y="0"/>
            <a:chExt cx="1755648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564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556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Optimización de </a:t>
              </a: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Pipelines ETL y Reducción de Dimensionalidad (PCA) en Entornos Híbridos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" y="7863840"/>
            <a:ext cx="12801600" cy="548640"/>
            <a:chOff x="0" y="0"/>
            <a:chExt cx="17068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706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Materia: </a:t>
              </a: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Programación de Procesamiento de Datos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8595360"/>
            <a:ext cx="3657600" cy="548640"/>
            <a:chOff x="0" y="0"/>
            <a:chExt cx="48768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5484495"/>
            <a:ext cx="13167360" cy="2198370"/>
            <a:chOff x="0" y="0"/>
            <a:chExt cx="17556480" cy="2931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556480" cy="2931160"/>
            </a:xfrm>
            <a:custGeom>
              <a:avLst/>
              <a:gdLst/>
              <a:ahLst/>
              <a:cxnLst/>
              <a:rect r="r" b="b" t="t" l="l"/>
              <a:pathLst>
                <a:path h="29311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931160"/>
                  </a:lnTo>
                  <a:lnTo>
                    <a:pt x="0" y="293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69" r="0" b="-333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556480" cy="298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</a:t>
              </a: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egrantes: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Cazarez Rochin Ricardo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Bustillos Landa Guimel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Orduño Angulo Gustavo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Vega García Susana Valentina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de Extracción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Fuentes heterogéneas integradas en un solo pipeline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36165" y="1907858"/>
            <a:ext cx="5654064" cy="3108960"/>
            <a:chOff x="0" y="0"/>
            <a:chExt cx="6873568" cy="37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73568" cy="3779520"/>
            </a:xfrm>
            <a:custGeom>
              <a:avLst/>
              <a:gdLst/>
              <a:ahLst/>
              <a:cxnLst/>
              <a:rect r="r" b="b" t="t" l="l"/>
              <a:pathLst>
                <a:path h="3779520" w="6873568">
                  <a:moveTo>
                    <a:pt x="0" y="0"/>
                  </a:moveTo>
                  <a:lnTo>
                    <a:pt x="6873568" y="0"/>
                  </a:lnTo>
                  <a:lnTo>
                    <a:pt x="6873568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36165" y="1907858"/>
            <a:ext cx="5654064" cy="1002890"/>
            <a:chOff x="0" y="0"/>
            <a:chExt cx="6873568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735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73568">
                  <a:moveTo>
                    <a:pt x="0" y="0"/>
                  </a:moveTo>
                  <a:lnTo>
                    <a:pt x="6873568" y="0"/>
                  </a:lnTo>
                  <a:lnTo>
                    <a:pt x="68735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20181" b="-376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68735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sz="3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40870" y="2645474"/>
            <a:ext cx="544465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7"/>
              </a:lnSpc>
              <a:spcBef>
                <a:spcPct val="0"/>
              </a:spcBef>
            </a:pPr>
            <a:r>
              <a:rPr lang="en-US" sz="2764" strike="noStrike" u="none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ventas_historicas</a:t>
            </a:r>
          </a:p>
          <a:p>
            <a:pPr algn="ctr" marL="0" indent="0" lvl="0">
              <a:lnSpc>
                <a:spcPts val="3317"/>
              </a:lnSpc>
              <a:spcBef>
                <a:spcPct val="0"/>
              </a:spcBef>
            </a:pPr>
            <a:r>
              <a:rPr lang="en-US" sz="2764" strike="noStrike" u="none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8000 reg.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6906" y="1925955"/>
            <a:ext cx="5694816" cy="3108960"/>
            <a:chOff x="0" y="0"/>
            <a:chExt cx="6923110" cy="37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2311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923110">
                  <a:moveTo>
                    <a:pt x="0" y="0"/>
                  </a:moveTo>
                  <a:lnTo>
                    <a:pt x="6923110" y="0"/>
                  </a:lnTo>
                  <a:lnTo>
                    <a:pt x="692311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26906" y="1925955"/>
            <a:ext cx="5694816" cy="1002890"/>
            <a:chOff x="0" y="0"/>
            <a:chExt cx="692311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2311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23110">
                  <a:moveTo>
                    <a:pt x="0" y="0"/>
                  </a:moveTo>
                  <a:lnTo>
                    <a:pt x="6923110" y="0"/>
                  </a:lnTo>
                  <a:lnTo>
                    <a:pt x="692311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20752" b="-376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692311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sz="3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NoSQL / Semiestructurado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032365" y="3257427"/>
            <a:ext cx="548389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perfiles_usuario.json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5760" y="5119688"/>
            <a:ext cx="17556480" cy="91440"/>
            <a:chOff x="0" y="0"/>
            <a:chExt cx="23408640" cy="12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08639" cy="121920"/>
            </a:xfrm>
            <a:custGeom>
              <a:avLst/>
              <a:gdLst/>
              <a:ahLst/>
              <a:cxnLst/>
              <a:rect r="r" b="b" t="t" l="l"/>
              <a:pathLst>
                <a:path h="1219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65760" y="5772436"/>
            <a:ext cx="10607040" cy="4241049"/>
            <a:chOff x="0" y="0"/>
            <a:chExt cx="14142720" cy="56547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142720" cy="5654732"/>
            </a:xfrm>
            <a:custGeom>
              <a:avLst/>
              <a:gdLst/>
              <a:ahLst/>
              <a:cxnLst/>
              <a:rect r="r" b="b" t="t" l="l"/>
              <a:pathLst>
                <a:path h="565473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654732"/>
                  </a:lnTo>
                  <a:lnTo>
                    <a:pt x="0" y="5654732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65760" y="5534692"/>
            <a:ext cx="10607040" cy="237744"/>
            <a:chOff x="0" y="0"/>
            <a:chExt cx="14142720" cy="3169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42720" cy="316992"/>
            </a:xfrm>
            <a:custGeom>
              <a:avLst/>
              <a:gdLst/>
              <a:ahLst/>
              <a:cxnLst/>
              <a:rect r="r" b="b" t="t" l="l"/>
              <a:pathLst>
                <a:path h="31699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03404" y="5743861"/>
            <a:ext cx="10505783" cy="390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 conexiones.py ===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from sqlalchemy import create_engine</a:t>
            </a:r>
          </a:p>
          <a:p>
            <a:pPr algn="l">
              <a:lnSpc>
                <a:spcPts val="1451"/>
              </a:lnSpc>
            </a:pP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def extraer_ventas(user, password, host, port, db):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# Conexión directa a la base de datos relacional PostgreSQL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engine_postgres = create_engine(f"postgresql+psycopg2://{user}:{password}@{host}:{port}/{db}")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query = "SELECT * FROM ventas_historicas"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df_ventas = pd.read_sql(query, engine_postgres)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return df_ventas</a:t>
            </a:r>
          </a:p>
          <a:p>
            <a:pPr algn="l">
              <a:lnSpc>
                <a:spcPts val="1451"/>
              </a:lnSpc>
            </a:pP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def extraer_usuarios():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# Apertura y lectura del archivo semiestructurado JSON local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with open("perfiles_usuario.json", "r", encoding="utf8") as usuarios: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datos = json.load(usuarios)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return datos</a:t>
            </a:r>
          </a:p>
          <a:p>
            <a:pPr algn="l">
              <a:lnSpc>
                <a:spcPts val="1451"/>
              </a:lnSpc>
            </a:pP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df_</a:t>
            </a: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inventario = pd.read_csv("INVENTARIO.csv")</a:t>
            </a:r>
          </a:p>
          <a:p>
            <a:pPr algn="l">
              <a:lnSpc>
                <a:spcPts val="1451"/>
              </a:lnSpc>
            </a:pPr>
            <a:r>
              <a:rPr lang="en-US" sz="120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print(f"Se cargó inventario.csv con {df_inventario.shape[0]} filas.")</a:t>
            </a:r>
          </a:p>
          <a:p>
            <a:pPr algn="l">
              <a:lnSpc>
                <a:spcPts val="1451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2774314" y="5715000"/>
            <a:ext cx="4023360" cy="2194560"/>
            <a:chOff x="0" y="0"/>
            <a:chExt cx="5364480" cy="2926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74314" y="5715000"/>
            <a:ext cx="4023360" cy="128016"/>
            <a:chOff x="0" y="0"/>
            <a:chExt cx="5364480" cy="1706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774314" y="5897880"/>
            <a:ext cx="4023360" cy="1188720"/>
            <a:chOff x="0" y="0"/>
            <a:chExt cx="5364480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774314" y="7048500"/>
            <a:ext cx="40233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fuentes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integradas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774314" y="8001000"/>
            <a:ext cx="4023360" cy="2194560"/>
            <a:chOff x="0" y="0"/>
            <a:chExt cx="5364480" cy="292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774314" y="8001000"/>
            <a:ext cx="4023360" cy="128016"/>
            <a:chOff x="0" y="0"/>
            <a:chExt cx="5364480" cy="170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774314" y="8183880"/>
            <a:ext cx="4023360" cy="1188720"/>
            <a:chOff x="0" y="0"/>
            <a:chExt cx="536448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K+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774314" y="9334500"/>
            <a:ext cx="40233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SQL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65760" y="9813703"/>
            <a:ext cx="9117574" cy="640080"/>
            <a:chOff x="0" y="0"/>
            <a:chExt cx="12156765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56765" cy="853440"/>
            </a:xfrm>
            <a:custGeom>
              <a:avLst/>
              <a:gdLst/>
              <a:ahLst/>
              <a:cxnLst/>
              <a:rect r="r" b="b" t="t" l="l"/>
              <a:pathLst>
                <a:path h="853440" w="12156765">
                  <a:moveTo>
                    <a:pt x="0" y="0"/>
                  </a:moveTo>
                  <a:lnTo>
                    <a:pt x="12156765" y="0"/>
                  </a:lnTo>
                  <a:lnTo>
                    <a:pt x="12156765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29797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156765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*Conexión relacional mapeada a DataFrame mediante SQLAlchemy y Psycopg2 desde el módulo conexiones.py.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606332" y="3625882"/>
            <a:ext cx="548389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INVENTARIO.csv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D1FAE5"/>
                </a:solidFill>
                <a:latin typeface="Calibri (MS)"/>
                <a:ea typeface="Calibri (MS)"/>
                <a:cs typeface="Calibri (MS)"/>
                <a:sym typeface="Calibri (MS)"/>
              </a:rPr>
              <a:t>Catalogo maestro de control de productos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Calidad y Volumen del Dato Crudo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Estado inicial — datos intencionalemente 'sucios'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1968" y="2897583"/>
            <a:ext cx="4114800" cy="182880"/>
            <a:chOff x="0" y="0"/>
            <a:chExt cx="5486400" cy="243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1968" y="3080463"/>
            <a:ext cx="4114800" cy="2743200"/>
            <a:chOff x="0" y="0"/>
            <a:chExt cx="5486400" cy="365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4848" y="3171903"/>
            <a:ext cx="3749040" cy="731520"/>
            <a:chOff x="0" y="0"/>
            <a:chExt cx="499872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Nulos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0563" y="3903423"/>
            <a:ext cx="3749040" cy="1955639"/>
            <a:chOff x="0" y="0"/>
            <a:chExt cx="4998720" cy="26075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98720" cy="2607518"/>
            </a:xfrm>
            <a:custGeom>
              <a:avLst/>
              <a:gdLst/>
              <a:ahLst/>
              <a:cxnLst/>
              <a:rect r="r" b="b" t="t" l="l"/>
              <a:pathLst>
                <a:path h="260751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07518"/>
                  </a:lnTo>
                  <a:lnTo>
                    <a:pt x="0" y="2607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8" t="0" r="-6328" b="1583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998720" cy="2645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Presencia de valores faltantes en el archivo plano complementario (INVENTARIO.csv). Detección sistemática con .isna().sum() e imputación controlada mediante .fillna(0) para mitigar la pérdida de registros.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52528" y="2897583"/>
            <a:ext cx="4114800" cy="182880"/>
            <a:chOff x="0" y="0"/>
            <a:chExt cx="5486400" cy="243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52528" y="3080463"/>
            <a:ext cx="4114800" cy="2743200"/>
            <a:chOff x="0" y="0"/>
            <a:chExt cx="548640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935408" y="3171903"/>
            <a:ext cx="3749040" cy="731520"/>
            <a:chOff x="0" y="0"/>
            <a:chExt cx="499872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⊕  Duplicados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41123" y="3868024"/>
            <a:ext cx="3749040" cy="1955639"/>
            <a:chOff x="0" y="0"/>
            <a:chExt cx="4998720" cy="26075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2607518"/>
            </a:xfrm>
            <a:custGeom>
              <a:avLst/>
              <a:gdLst/>
              <a:ahLst/>
              <a:cxnLst/>
              <a:rect r="r" b="b" t="t" l="l"/>
              <a:pathLst>
                <a:path h="260751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07518"/>
                  </a:lnTo>
                  <a:lnTo>
                    <a:pt x="0" y="2607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8" t="0" r="-6328" b="158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8720" cy="2645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Duplicidad técnica por redundancia en el identificador único id_transaccion dentro de la extracción relacional de SQL. Remoción mediante .drop_duplicates() para evitar la sobreestimación del volumen transaccional.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33088" y="2897583"/>
            <a:ext cx="4114800" cy="182880"/>
            <a:chOff x="0" y="0"/>
            <a:chExt cx="5486400" cy="243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233088" y="3080463"/>
            <a:ext cx="4114800" cy="2743200"/>
            <a:chOff x="0" y="0"/>
            <a:chExt cx="5486400" cy="365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15968" y="3171903"/>
            <a:ext cx="3749040" cy="731520"/>
            <a:chOff x="0" y="0"/>
            <a:chExt cx="499872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⟳  Formatos mixtos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29278" y="3734674"/>
            <a:ext cx="4303395" cy="2222339"/>
            <a:chOff x="0" y="0"/>
            <a:chExt cx="5737860" cy="29631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37860" cy="2963118"/>
            </a:xfrm>
            <a:custGeom>
              <a:avLst/>
              <a:gdLst/>
              <a:ahLst/>
              <a:cxnLst/>
              <a:rect r="r" b="b" t="t" l="l"/>
              <a:pathLst>
                <a:path h="2963118" w="5737860">
                  <a:moveTo>
                    <a:pt x="0" y="0"/>
                  </a:moveTo>
                  <a:lnTo>
                    <a:pt x="5737860" y="0"/>
                  </a:lnTo>
                  <a:lnTo>
                    <a:pt x="5737860" y="2963118"/>
                  </a:lnTo>
                  <a:lnTo>
                    <a:pt x="0" y="2963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13" t="0" r="7368" b="259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737860" cy="3001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Coexist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encia de registros en entornos semiestructurados (JSON). Presencia de variables cualitativas de localización anidadas dentro de objetos complejos. Requiere un proceso de desestructuración y aplanamiento de datos (pd.json_normalize) para extraer de forma independiente las columnas de ciudad y estado hacia el DataFrame principal.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3648" y="2897583"/>
            <a:ext cx="4114800" cy="182880"/>
            <a:chOff x="0" y="0"/>
            <a:chExt cx="5486400" cy="243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243840"/>
            </a:xfrm>
            <a:custGeom>
              <a:avLst/>
              <a:gdLst/>
              <a:ahLst/>
              <a:cxnLst/>
              <a:rect r="r" b="b" t="t" l="l"/>
              <a:pathLst>
                <a:path h="243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3648" y="3080463"/>
            <a:ext cx="4114800" cy="2743200"/>
            <a:chOff x="0" y="0"/>
            <a:chExt cx="5486400" cy="3657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896528" y="3171903"/>
            <a:ext cx="3749040" cy="731520"/>
            <a:chOff x="0" y="0"/>
            <a:chExt cx="499872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720" cy="975360"/>
            </a:xfrm>
            <a:custGeom>
              <a:avLst/>
              <a:gdLst/>
              <a:ahLst/>
              <a:cxnLst/>
              <a:rect r="r" b="b" t="t" l="l"/>
              <a:pathLst>
                <a:path h="9753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998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369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≠  Strings sucios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90813" y="3356688"/>
            <a:ext cx="4125220" cy="3027046"/>
            <a:chOff x="0" y="0"/>
            <a:chExt cx="5491921" cy="40299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91921" cy="4029918"/>
            </a:xfrm>
            <a:custGeom>
              <a:avLst/>
              <a:gdLst/>
              <a:ahLst/>
              <a:cxnLst/>
              <a:rect r="r" b="b" t="t" l="l"/>
              <a:pathLst>
                <a:path h="4029918" w="5491921">
                  <a:moveTo>
                    <a:pt x="0" y="0"/>
                  </a:moveTo>
                  <a:lnTo>
                    <a:pt x="5491921" y="0"/>
                  </a:lnTo>
                  <a:lnTo>
                    <a:pt x="5491921" y="4029918"/>
                  </a:lnTo>
                  <a:lnTo>
                    <a:pt x="0" y="4029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60" t="0" r="3220" b="4554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491921" cy="4058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Ambigüedad semántica y espaciados irregulares en variables geográficas. Existencia de espacios en blanco invisibles al inicio o final de las cadenas y errores ortográficos en los nombres de las localidades. Aplicación de limpieza en cadena con .str.strip() y homologación probabilística (Fuzzy Matching) con un umbral de confianza mayor o igual al 80 por ciento frente a catálogos maestros.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316153" y="6276975"/>
            <a:ext cx="6400800" cy="3931920"/>
            <a:chOff x="0" y="0"/>
            <a:chExt cx="8534400" cy="5242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34400" cy="5242560"/>
            </a:xfrm>
            <a:custGeom>
              <a:avLst/>
              <a:gdLst/>
              <a:ahLst/>
              <a:cxnLst/>
              <a:rect r="r" b="b" t="t" l="l"/>
              <a:pathLst>
                <a:path h="52425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316153" y="6368415"/>
            <a:ext cx="6400800" cy="585216"/>
            <a:chOff x="0" y="0"/>
            <a:chExt cx="853440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5344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400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VOLÚMENES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99033" y="7452516"/>
            <a:ext cx="3474720" cy="595571"/>
            <a:chOff x="0" y="0"/>
            <a:chExt cx="4632960" cy="7940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32960" cy="794095"/>
            </a:xfrm>
            <a:custGeom>
              <a:avLst/>
              <a:gdLst/>
              <a:ahLst/>
              <a:cxnLst/>
              <a:rect r="r" b="b" t="t" l="l"/>
              <a:pathLst>
                <a:path h="794095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91" r="0" b="-566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46329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ventas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973753" y="7452516"/>
            <a:ext cx="2560320" cy="595571"/>
            <a:chOff x="0" y="0"/>
            <a:chExt cx="3413760" cy="7940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13760" cy="794095"/>
            </a:xfrm>
            <a:custGeom>
              <a:avLst/>
              <a:gdLst/>
              <a:ahLst/>
              <a:cxnLst/>
              <a:rect r="r" b="b" t="t" l="l"/>
              <a:pathLst>
                <a:path h="794095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75" r="0" b="-26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34137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8,000 filas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499033" y="8546973"/>
            <a:ext cx="3474720" cy="595571"/>
            <a:chOff x="0" y="0"/>
            <a:chExt cx="4632960" cy="79409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32960" cy="794095"/>
            </a:xfrm>
            <a:custGeom>
              <a:avLst/>
              <a:gdLst/>
              <a:ahLst/>
              <a:cxnLst/>
              <a:rect r="r" b="b" t="t" l="l"/>
              <a:pathLst>
                <a:path h="794095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91" r="0" b="-5667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46329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perfiles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973753" y="8600538"/>
            <a:ext cx="2560320" cy="595571"/>
            <a:chOff x="0" y="0"/>
            <a:chExt cx="3413760" cy="79409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0" cy="794095"/>
            </a:xfrm>
            <a:custGeom>
              <a:avLst/>
              <a:gdLst/>
              <a:ahLst/>
              <a:cxnLst/>
              <a:rect r="r" b="b" t="t" l="l"/>
              <a:pathLst>
                <a:path h="794095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75" r="0" b="-267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341376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1,500 docs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Diccionario y Estandarización de Variables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Llaves primarias, tipos y convenciones unificadas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1828800"/>
            <a:ext cx="18288000" cy="1273332"/>
            <a:chOff x="0" y="0"/>
            <a:chExt cx="24384000" cy="16977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697776"/>
            </a:xfrm>
            <a:custGeom>
              <a:avLst/>
              <a:gdLst/>
              <a:ahLst/>
              <a:cxnLst/>
              <a:rect r="r" b="b" t="t" l="l"/>
              <a:pathLst>
                <a:path h="16977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97776"/>
                  </a:lnTo>
                  <a:lnTo>
                    <a:pt x="0" y="169777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24840" y="1912862"/>
            <a:ext cx="1643041" cy="1273332"/>
            <a:chOff x="0" y="0"/>
            <a:chExt cx="2190721" cy="16977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0721" cy="1697776"/>
            </a:xfrm>
            <a:custGeom>
              <a:avLst/>
              <a:gdLst/>
              <a:ahLst/>
              <a:cxnLst/>
              <a:rect r="r" b="b" t="t" l="l"/>
              <a:pathLst>
                <a:path h="1697776" w="2190721">
                  <a:moveTo>
                    <a:pt x="0" y="0"/>
                  </a:moveTo>
                  <a:lnTo>
                    <a:pt x="2190721" y="0"/>
                  </a:lnTo>
                  <a:lnTo>
                    <a:pt x="2190721" y="1697776"/>
                  </a:lnTo>
                  <a:lnTo>
                    <a:pt x="0" y="1697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7" t="0" r="-7137" b="4542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0721" cy="1735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Campo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19445" y="1828800"/>
            <a:ext cx="1750983" cy="1273332"/>
            <a:chOff x="0" y="0"/>
            <a:chExt cx="2334644" cy="16977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34644" cy="1697776"/>
            </a:xfrm>
            <a:custGeom>
              <a:avLst/>
              <a:gdLst/>
              <a:ahLst/>
              <a:cxnLst/>
              <a:rect r="r" b="b" t="t" l="l"/>
              <a:pathLst>
                <a:path h="1697776" w="2334644">
                  <a:moveTo>
                    <a:pt x="0" y="0"/>
                  </a:moveTo>
                  <a:lnTo>
                    <a:pt x="2334644" y="0"/>
                  </a:lnTo>
                  <a:lnTo>
                    <a:pt x="2334644" y="1697776"/>
                  </a:lnTo>
                  <a:lnTo>
                    <a:pt x="0" y="1697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79" r="-124555" b="125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34644" cy="1735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 Original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91250" y="1828800"/>
            <a:ext cx="3333750" cy="1273332"/>
            <a:chOff x="0" y="0"/>
            <a:chExt cx="4445000" cy="16977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1697776"/>
            </a:xfrm>
            <a:custGeom>
              <a:avLst/>
              <a:gdLst/>
              <a:ahLst/>
              <a:cxnLst/>
              <a:rect r="r" b="b" t="t" l="l"/>
              <a:pathLst>
                <a:path h="1697776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1697776"/>
                  </a:lnTo>
                  <a:lnTo>
                    <a:pt x="0" y="1697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85" r="4000" b="2373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445000" cy="1735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 Final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20250" y="1828800"/>
            <a:ext cx="3166867" cy="1273332"/>
            <a:chOff x="0" y="0"/>
            <a:chExt cx="4222489" cy="16977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22490" cy="1697776"/>
            </a:xfrm>
            <a:custGeom>
              <a:avLst/>
              <a:gdLst/>
              <a:ahLst/>
              <a:cxnLst/>
              <a:rect r="r" b="b" t="t" l="l"/>
              <a:pathLst>
                <a:path h="1697776" w="4222490">
                  <a:moveTo>
                    <a:pt x="0" y="0"/>
                  </a:moveTo>
                  <a:lnTo>
                    <a:pt x="4222490" y="0"/>
                  </a:lnTo>
                  <a:lnTo>
                    <a:pt x="4222490" y="1697776"/>
                  </a:lnTo>
                  <a:lnTo>
                    <a:pt x="0" y="1697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4" r="-41482" b="41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222489" cy="1735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Transformación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382750" y="1828800"/>
            <a:ext cx="3524250" cy="1273332"/>
            <a:chOff x="0" y="0"/>
            <a:chExt cx="4699000" cy="16977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99000" cy="1697776"/>
            </a:xfrm>
            <a:custGeom>
              <a:avLst/>
              <a:gdLst/>
              <a:ahLst/>
              <a:cxnLst/>
              <a:rect r="r" b="b" t="t" l="l"/>
              <a:pathLst>
                <a:path h="1697776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1697776"/>
                  </a:lnTo>
                  <a:lnTo>
                    <a:pt x="0" y="1697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83" r="3999" b="209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699000" cy="1735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Ejemplo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4840" y="3416517"/>
            <a:ext cx="1797384" cy="1206314"/>
            <a:chOff x="0" y="0"/>
            <a:chExt cx="2396513" cy="16084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96512" cy="1608419"/>
            </a:xfrm>
            <a:custGeom>
              <a:avLst/>
              <a:gdLst/>
              <a:ahLst/>
              <a:cxnLst/>
              <a:rect r="r" b="b" t="t" l="l"/>
              <a:pathLst>
                <a:path h="1608419" w="2396512">
                  <a:moveTo>
                    <a:pt x="0" y="0"/>
                  </a:moveTo>
                  <a:lnTo>
                    <a:pt x="2396512" y="0"/>
                  </a:lnTo>
                  <a:lnTo>
                    <a:pt x="2396512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" r="3339" b="446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39651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echa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19445" y="3268088"/>
            <a:ext cx="3501965" cy="1206314"/>
            <a:chOff x="0" y="0"/>
            <a:chExt cx="4669287" cy="16084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69287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69287">
                  <a:moveTo>
                    <a:pt x="0" y="0"/>
                  </a:moveTo>
                  <a:lnTo>
                    <a:pt x="4669287" y="0"/>
                  </a:lnTo>
                  <a:lnTo>
                    <a:pt x="4669287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22" r="-12277" b="92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669287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 mixto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132006" y="3416517"/>
            <a:ext cx="3310971" cy="1206314"/>
            <a:chOff x="0" y="0"/>
            <a:chExt cx="4414628" cy="16084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14628" cy="1608419"/>
            </a:xfrm>
            <a:custGeom>
              <a:avLst/>
              <a:gdLst/>
              <a:ahLst/>
              <a:cxnLst/>
              <a:rect r="r" b="b" t="t" l="l"/>
              <a:pathLst>
                <a:path h="1608419" w="4414628">
                  <a:moveTo>
                    <a:pt x="0" y="0"/>
                  </a:moveTo>
                  <a:lnTo>
                    <a:pt x="4414628" y="0"/>
                  </a:lnTo>
                  <a:lnTo>
                    <a:pt x="4414628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06" r="3339" b="2101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414628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datetime64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314835" y="3416517"/>
            <a:ext cx="3500170" cy="1206314"/>
            <a:chOff x="0" y="0"/>
            <a:chExt cx="4666893" cy="16084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66893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66893">
                  <a:moveTo>
                    <a:pt x="0" y="0"/>
                  </a:moveTo>
                  <a:lnTo>
                    <a:pt x="4666893" y="0"/>
                  </a:lnTo>
                  <a:lnTo>
                    <a:pt x="4666893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0" r="3339" b="1806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66689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2026-05-15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24840" y="4409961"/>
            <a:ext cx="1797384" cy="1206314"/>
            <a:chOff x="0" y="0"/>
            <a:chExt cx="2396513" cy="16084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96512" cy="1608419"/>
            </a:xfrm>
            <a:custGeom>
              <a:avLst/>
              <a:gdLst/>
              <a:ahLst/>
              <a:cxnLst/>
              <a:rect r="r" b="b" t="t" l="l"/>
              <a:pathLst>
                <a:path h="1608419" w="2396512">
                  <a:moveTo>
                    <a:pt x="0" y="0"/>
                  </a:moveTo>
                  <a:lnTo>
                    <a:pt x="2396512" y="0"/>
                  </a:lnTo>
                  <a:lnTo>
                    <a:pt x="2396512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" r="3339" b="4464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39651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estado/ciudad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019445" y="4409961"/>
            <a:ext cx="3501965" cy="1206314"/>
            <a:chOff x="0" y="0"/>
            <a:chExt cx="4669287" cy="16084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9287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69287">
                  <a:moveTo>
                    <a:pt x="0" y="0"/>
                  </a:moveTo>
                  <a:lnTo>
                    <a:pt x="4669287" y="0"/>
                  </a:lnTo>
                  <a:lnTo>
                    <a:pt x="4669287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22" r="-12277" b="92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9287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 sucio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132006" y="4474402"/>
            <a:ext cx="3310971" cy="1206314"/>
            <a:chOff x="0" y="0"/>
            <a:chExt cx="4414628" cy="16084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14628" cy="1608419"/>
            </a:xfrm>
            <a:custGeom>
              <a:avLst/>
              <a:gdLst/>
              <a:ahLst/>
              <a:cxnLst/>
              <a:rect r="r" b="b" t="t" l="l"/>
              <a:pathLst>
                <a:path h="1608419" w="4414628">
                  <a:moveTo>
                    <a:pt x="0" y="0"/>
                  </a:moveTo>
                  <a:lnTo>
                    <a:pt x="4414628" y="0"/>
                  </a:lnTo>
                  <a:lnTo>
                    <a:pt x="4414628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06" r="3339" b="210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414628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 (limpio)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25000" y="4019674"/>
            <a:ext cx="4553337" cy="2069671"/>
            <a:chOff x="0" y="0"/>
            <a:chExt cx="6071115" cy="275956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71115" cy="2759562"/>
            </a:xfrm>
            <a:custGeom>
              <a:avLst/>
              <a:gdLst/>
              <a:ahLst/>
              <a:cxnLst/>
              <a:rect r="r" b="b" t="t" l="l"/>
              <a:pathLst>
                <a:path h="2759562" w="6071115">
                  <a:moveTo>
                    <a:pt x="0" y="0"/>
                  </a:moveTo>
                  <a:lnTo>
                    <a:pt x="6071115" y="0"/>
                  </a:lnTo>
                  <a:lnTo>
                    <a:pt x="6071115" y="2759562"/>
                  </a:lnTo>
                  <a:lnTo>
                    <a:pt x="0" y="27595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77" r="1598" b="4191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6071115" cy="2788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Normalización probabilíst</a:t>
              </a:r>
              <a:r>
                <a:rPr lang="en-US" sz="12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ica (Fuzzy)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314835" y="4474402"/>
            <a:ext cx="3500170" cy="1206314"/>
            <a:chOff x="0" y="0"/>
            <a:chExt cx="4666893" cy="16084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66893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66893">
                  <a:moveTo>
                    <a:pt x="0" y="0"/>
                  </a:moveTo>
                  <a:lnTo>
                    <a:pt x="4666893" y="0"/>
                  </a:lnTo>
                  <a:lnTo>
                    <a:pt x="4666893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0" r="3339" b="1806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66689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Sinaloa/Culiacán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24840" y="5515001"/>
            <a:ext cx="1797384" cy="1206314"/>
            <a:chOff x="0" y="0"/>
            <a:chExt cx="2396513" cy="160841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96512" cy="1608419"/>
            </a:xfrm>
            <a:custGeom>
              <a:avLst/>
              <a:gdLst/>
              <a:ahLst/>
              <a:cxnLst/>
              <a:rect r="r" b="b" t="t" l="l"/>
              <a:pathLst>
                <a:path h="1608419" w="2396512">
                  <a:moveTo>
                    <a:pt x="0" y="0"/>
                  </a:moveTo>
                  <a:lnTo>
                    <a:pt x="2396512" y="0"/>
                  </a:lnTo>
                  <a:lnTo>
                    <a:pt x="2396512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" r="3339" b="4464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39651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019445" y="5515001"/>
            <a:ext cx="3455808" cy="1206314"/>
            <a:chOff x="0" y="0"/>
            <a:chExt cx="4607744" cy="16084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07744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07744">
                  <a:moveTo>
                    <a:pt x="0" y="0"/>
                  </a:moveTo>
                  <a:lnTo>
                    <a:pt x="4607744" y="0"/>
                  </a:lnTo>
                  <a:lnTo>
                    <a:pt x="4607744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22" r="-13777" b="920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607744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 / int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132006" y="5515001"/>
            <a:ext cx="3310971" cy="1206314"/>
            <a:chOff x="0" y="0"/>
            <a:chExt cx="4414628" cy="160841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14628" cy="1608419"/>
            </a:xfrm>
            <a:custGeom>
              <a:avLst/>
              <a:gdLst/>
              <a:ahLst/>
              <a:cxnLst/>
              <a:rect r="r" b="b" t="t" l="l"/>
              <a:pathLst>
                <a:path h="1608419" w="4414628">
                  <a:moveTo>
                    <a:pt x="0" y="0"/>
                  </a:moveTo>
                  <a:lnTo>
                    <a:pt x="4414628" y="0"/>
                  </a:lnTo>
                  <a:lnTo>
                    <a:pt x="4414628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06" r="3339" b="2101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414628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float64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42977" y="5600169"/>
            <a:ext cx="4635360" cy="1206314"/>
            <a:chOff x="0" y="0"/>
            <a:chExt cx="6180480" cy="16084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180480" cy="1608419"/>
            </a:xfrm>
            <a:custGeom>
              <a:avLst/>
              <a:gdLst/>
              <a:ahLst/>
              <a:cxnLst/>
              <a:rect r="r" b="b" t="t" l="l"/>
              <a:pathLst>
                <a:path h="1608419" w="6180480">
                  <a:moveTo>
                    <a:pt x="0" y="0"/>
                  </a:moveTo>
                  <a:lnTo>
                    <a:pt x="6180480" y="0"/>
                  </a:lnTo>
                  <a:lnTo>
                    <a:pt x="6180480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84" r="3339" b="33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6180480" cy="163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standarización numérica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314835" y="5340310"/>
            <a:ext cx="3500170" cy="1206314"/>
            <a:chOff x="0" y="0"/>
            <a:chExt cx="4666893" cy="160841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66893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66893">
                  <a:moveTo>
                    <a:pt x="0" y="0"/>
                  </a:moveTo>
                  <a:lnTo>
                    <a:pt x="4666893" y="0"/>
                  </a:lnTo>
                  <a:lnTo>
                    <a:pt x="4666893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0" r="3339" b="1806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466689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24840" y="6529172"/>
            <a:ext cx="1797384" cy="1206314"/>
            <a:chOff x="0" y="0"/>
            <a:chExt cx="2396513" cy="160841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96512" cy="1608419"/>
            </a:xfrm>
            <a:custGeom>
              <a:avLst/>
              <a:gdLst/>
              <a:ahLst/>
              <a:cxnLst/>
              <a:rect r="r" b="b" t="t" l="l"/>
              <a:pathLst>
                <a:path h="1608419" w="2396512">
                  <a:moveTo>
                    <a:pt x="0" y="0"/>
                  </a:moveTo>
                  <a:lnTo>
                    <a:pt x="2396512" y="0"/>
                  </a:lnTo>
                  <a:lnTo>
                    <a:pt x="2396512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" r="3339" b="4464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39651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puntos_lealtad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019445" y="6529172"/>
            <a:ext cx="3531528" cy="1206314"/>
            <a:chOff x="0" y="0"/>
            <a:chExt cx="4708703" cy="160841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08703" cy="1608419"/>
            </a:xfrm>
            <a:custGeom>
              <a:avLst/>
              <a:gdLst/>
              <a:ahLst/>
              <a:cxnLst/>
              <a:rect r="r" b="b" t="t" l="l"/>
              <a:pathLst>
                <a:path h="1608419" w="4708703">
                  <a:moveTo>
                    <a:pt x="0" y="0"/>
                  </a:moveTo>
                  <a:lnTo>
                    <a:pt x="4708703" y="0"/>
                  </a:lnTo>
                  <a:lnTo>
                    <a:pt x="4708703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22" r="-11337" b="920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70870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132006" y="6529172"/>
            <a:ext cx="3310971" cy="1206314"/>
            <a:chOff x="0" y="0"/>
            <a:chExt cx="4414628" cy="160841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14628" cy="1608419"/>
            </a:xfrm>
            <a:custGeom>
              <a:avLst/>
              <a:gdLst/>
              <a:ahLst/>
              <a:cxnLst/>
              <a:rect r="r" b="b" t="t" l="l"/>
              <a:pathLst>
                <a:path h="1608419" w="4414628">
                  <a:moveTo>
                    <a:pt x="0" y="0"/>
                  </a:moveTo>
                  <a:lnTo>
                    <a:pt x="4414628" y="0"/>
                  </a:lnTo>
                  <a:lnTo>
                    <a:pt x="4414628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06" r="3339" b="2101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414628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float64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442977" y="6546624"/>
            <a:ext cx="4635360" cy="1206314"/>
            <a:chOff x="0" y="0"/>
            <a:chExt cx="6180480" cy="160841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180480" cy="1608419"/>
            </a:xfrm>
            <a:custGeom>
              <a:avLst/>
              <a:gdLst/>
              <a:ahLst/>
              <a:cxnLst/>
              <a:rect r="r" b="b" t="t" l="l"/>
              <a:pathLst>
                <a:path h="1608419" w="6180480">
                  <a:moveTo>
                    <a:pt x="0" y="0"/>
                  </a:moveTo>
                  <a:lnTo>
                    <a:pt x="6180480" y="0"/>
                  </a:lnTo>
                  <a:lnTo>
                    <a:pt x="6180480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84" r="3339" b="33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6180480" cy="163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Escalado 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Min-Max → [0,1]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314835" y="6546624"/>
            <a:ext cx="3500170" cy="1206314"/>
            <a:chOff x="0" y="0"/>
            <a:chExt cx="4666893" cy="16084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66893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66893">
                  <a:moveTo>
                    <a:pt x="0" y="0"/>
                  </a:moveTo>
                  <a:lnTo>
                    <a:pt x="4666893" y="0"/>
                  </a:lnTo>
                  <a:lnTo>
                    <a:pt x="4666893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0" r="3339" b="1806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66689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0.72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24840" y="7613485"/>
            <a:ext cx="1797384" cy="1206314"/>
            <a:chOff x="0" y="0"/>
            <a:chExt cx="2396513" cy="160841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396512" cy="1608419"/>
            </a:xfrm>
            <a:custGeom>
              <a:avLst/>
              <a:gdLst/>
              <a:ahLst/>
              <a:cxnLst/>
              <a:rect r="r" b="b" t="t" l="l"/>
              <a:pathLst>
                <a:path h="1608419" w="2396512">
                  <a:moveTo>
                    <a:pt x="0" y="0"/>
                  </a:moveTo>
                  <a:lnTo>
                    <a:pt x="2396512" y="0"/>
                  </a:lnTo>
                  <a:lnTo>
                    <a:pt x="2396512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" r="3339" b="4464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39651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gastos_mensuales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3019445" y="7613485"/>
            <a:ext cx="3549265" cy="1206314"/>
            <a:chOff x="0" y="0"/>
            <a:chExt cx="4732353" cy="160841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732353" cy="1608419"/>
            </a:xfrm>
            <a:custGeom>
              <a:avLst/>
              <a:gdLst/>
              <a:ahLst/>
              <a:cxnLst/>
              <a:rect r="r" b="b" t="t" l="l"/>
              <a:pathLst>
                <a:path h="1608419" w="4732353">
                  <a:moveTo>
                    <a:pt x="0" y="0"/>
                  </a:moveTo>
                  <a:lnTo>
                    <a:pt x="4732353" y="0"/>
                  </a:lnTo>
                  <a:lnTo>
                    <a:pt x="4732353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22" r="-10781" b="920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73235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132006" y="7636523"/>
            <a:ext cx="3310971" cy="1206314"/>
            <a:chOff x="0" y="0"/>
            <a:chExt cx="4414628" cy="160841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14628" cy="1608419"/>
            </a:xfrm>
            <a:custGeom>
              <a:avLst/>
              <a:gdLst/>
              <a:ahLst/>
              <a:cxnLst/>
              <a:rect r="r" b="b" t="t" l="l"/>
              <a:pathLst>
                <a:path h="1608419" w="4414628">
                  <a:moveTo>
                    <a:pt x="0" y="0"/>
                  </a:moveTo>
                  <a:lnTo>
                    <a:pt x="4414628" y="0"/>
                  </a:lnTo>
                  <a:lnTo>
                    <a:pt x="4414628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06" r="3339" b="2101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414628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float64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442977" y="7613485"/>
            <a:ext cx="4635360" cy="1206314"/>
            <a:chOff x="0" y="0"/>
            <a:chExt cx="6180480" cy="160841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180480" cy="1608419"/>
            </a:xfrm>
            <a:custGeom>
              <a:avLst/>
              <a:gdLst/>
              <a:ahLst/>
              <a:cxnLst/>
              <a:rect r="r" b="b" t="t" l="l"/>
              <a:pathLst>
                <a:path h="1608419" w="6180480">
                  <a:moveTo>
                    <a:pt x="0" y="0"/>
                  </a:moveTo>
                  <a:lnTo>
                    <a:pt x="6180480" y="0"/>
                  </a:lnTo>
                  <a:lnTo>
                    <a:pt x="6180480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84" r="3339" b="33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6180480" cy="163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scalado Min-Max → [0,1]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314835" y="7613485"/>
            <a:ext cx="3500170" cy="1206314"/>
            <a:chOff x="0" y="0"/>
            <a:chExt cx="4666893" cy="160841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666893" cy="1608419"/>
            </a:xfrm>
            <a:custGeom>
              <a:avLst/>
              <a:gdLst/>
              <a:ahLst/>
              <a:cxnLst/>
              <a:rect r="r" b="b" t="t" l="l"/>
              <a:pathLst>
                <a:path h="1608419" w="4666893">
                  <a:moveTo>
                    <a:pt x="0" y="0"/>
                  </a:moveTo>
                  <a:lnTo>
                    <a:pt x="4666893" y="0"/>
                  </a:lnTo>
                  <a:lnTo>
                    <a:pt x="4666893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0" r="3339" b="1806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4666893" cy="1646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0.34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442977" y="3186194"/>
            <a:ext cx="4635360" cy="1206314"/>
            <a:chOff x="0" y="0"/>
            <a:chExt cx="6180480" cy="160841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180480" cy="1608419"/>
            </a:xfrm>
            <a:custGeom>
              <a:avLst/>
              <a:gdLst/>
              <a:ahLst/>
              <a:cxnLst/>
              <a:rect r="r" b="b" t="t" l="l"/>
              <a:pathLst>
                <a:path h="1608419" w="6180480">
                  <a:moveTo>
                    <a:pt x="0" y="0"/>
                  </a:moveTo>
                  <a:lnTo>
                    <a:pt x="6180480" y="0"/>
                  </a:lnTo>
                  <a:lnTo>
                    <a:pt x="6180480" y="1608419"/>
                  </a:lnTo>
                  <a:lnTo>
                    <a:pt x="0" y="1608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84" r="3339" b="33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6180480" cy="163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Normalización de formato y limpi</a:t>
              </a:r>
              <a:r>
                <a:rPr lang="en-US" sz="1399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eza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— Fase 1: Limpieza y Normalización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Nulos, duplicados y escalado numérico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192024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192024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1 DE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" y="2523744"/>
            <a:ext cx="694944" cy="694944"/>
            <a:chOff x="0" y="0"/>
            <a:chExt cx="926592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2523744"/>
            <a:ext cx="694944" cy="694944"/>
            <a:chOff x="0" y="0"/>
            <a:chExt cx="926592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" y="2523744"/>
            <a:ext cx="6217920" cy="1003474"/>
            <a:chOff x="0" y="0"/>
            <a:chExt cx="8290560" cy="13379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90560" cy="1337965"/>
            </a:xfrm>
            <a:custGeom>
              <a:avLst/>
              <a:gdLst/>
              <a:ahLst/>
              <a:cxnLst/>
              <a:rect r="r" b="b" t="t" l="l"/>
              <a:pathLst>
                <a:path h="1337965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37965"/>
                  </a:lnTo>
                  <a:lnTo>
                    <a:pt x="0" y="13379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89" r="0" b="-407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290560" cy="1376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Sane</a:t>
              </a: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amiento de Inventario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2926080"/>
            <a:ext cx="6217920" cy="983884"/>
            <a:chOff x="0" y="0"/>
            <a:chExt cx="8290560" cy="13118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90560" cy="1311846"/>
            </a:xfrm>
            <a:custGeom>
              <a:avLst/>
              <a:gdLst/>
              <a:ahLst/>
              <a:cxnLst/>
              <a:rect r="r" b="b" t="t" l="l"/>
              <a:pathLst>
                <a:path h="13118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11846"/>
                  </a:lnTo>
                  <a:lnTo>
                    <a:pt x="0" y="1311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53" r="0" b="-4172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290560" cy="134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Identi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ficación de registros nulos en el catálogo de productos mediante .isna(). Aplicación de una estrategia de imputación fija con .fillna(0) para asegurar la consistencia del Stock.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5760" y="4133088"/>
            <a:ext cx="694944" cy="694944"/>
            <a:chOff x="0" y="0"/>
            <a:chExt cx="926592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65760" y="4133088"/>
            <a:ext cx="694944" cy="694944"/>
            <a:chOff x="0" y="0"/>
            <a:chExt cx="926592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4133088"/>
            <a:ext cx="6217920" cy="402336"/>
            <a:chOff x="0" y="0"/>
            <a:chExt cx="829056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90560" cy="536448"/>
            </a:xfrm>
            <a:custGeom>
              <a:avLst/>
              <a:gdLst/>
              <a:ahLst/>
              <a:cxnLst/>
              <a:rect r="r" b="b" t="t" l="l"/>
              <a:pathLst>
                <a:path h="53644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290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epuración Transaccional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8720" y="4535424"/>
            <a:ext cx="6217920" cy="983884"/>
            <a:chOff x="0" y="0"/>
            <a:chExt cx="8290560" cy="13118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90560" cy="1311846"/>
            </a:xfrm>
            <a:custGeom>
              <a:avLst/>
              <a:gdLst/>
              <a:ahLst/>
              <a:cxnLst/>
              <a:rect r="r" b="b" t="t" l="l"/>
              <a:pathLst>
                <a:path h="13118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11846"/>
                  </a:lnTo>
                  <a:lnTo>
                    <a:pt x="0" y="1311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53" r="0" b="-4172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290560" cy="134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Eliminación de filas redund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antes en el histórico de ventas utilizando el método .drop_duplicates(subset=["id_transaccion"]), garantizando que cada operación sea única.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5760" y="5742432"/>
            <a:ext cx="694944" cy="694944"/>
            <a:chOff x="0" y="0"/>
            <a:chExt cx="926592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65760" y="5742432"/>
            <a:ext cx="694944" cy="694944"/>
            <a:chOff x="0" y="0"/>
            <a:chExt cx="926592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8720" y="5742432"/>
            <a:ext cx="6217920" cy="402336"/>
            <a:chOff x="0" y="0"/>
            <a:chExt cx="8290560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90560" cy="536448"/>
            </a:xfrm>
            <a:custGeom>
              <a:avLst/>
              <a:gdLst/>
              <a:ahLst/>
              <a:cxnLst/>
              <a:rect r="r" b="b" t="t" l="l"/>
              <a:pathLst>
                <a:path h="53644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290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Desestructuración de JSON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8720" y="6144768"/>
            <a:ext cx="6217920" cy="983884"/>
            <a:chOff x="0" y="0"/>
            <a:chExt cx="8290560" cy="131184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90560" cy="1311846"/>
            </a:xfrm>
            <a:custGeom>
              <a:avLst/>
              <a:gdLst/>
              <a:ahLst/>
              <a:cxnLst/>
              <a:rect r="r" b="b" t="t" l="l"/>
              <a:pathLst>
                <a:path h="13118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11846"/>
                  </a:lnTo>
                  <a:lnTo>
                    <a:pt x="0" y="1311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53" r="0" b="-4172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290560" cy="134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Extracción d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e variables cualitativas de localización anidadas en el perfil de usuarios. Uso de pd.json_normalize para aplanar el formato mixto y mapearlo hacia el DataFrame principal.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65760" y="7171111"/>
            <a:ext cx="694944" cy="694944"/>
            <a:chOff x="0" y="0"/>
            <a:chExt cx="926592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65760" y="7171111"/>
            <a:ext cx="694944" cy="694944"/>
            <a:chOff x="0" y="0"/>
            <a:chExt cx="926592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" y="7116247"/>
            <a:ext cx="6217920" cy="402336"/>
            <a:chOff x="0" y="0"/>
            <a:chExt cx="8290560" cy="5364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90560" cy="536448"/>
            </a:xfrm>
            <a:custGeom>
              <a:avLst/>
              <a:gdLst/>
              <a:ahLst/>
              <a:cxnLst/>
              <a:rect r="r" b="b" t="t" l="l"/>
              <a:pathLst>
                <a:path h="53644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290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Homologac</a:t>
              </a: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ión de Texto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8720" y="7415070"/>
            <a:ext cx="6217920" cy="983884"/>
            <a:chOff x="0" y="0"/>
            <a:chExt cx="8290560" cy="131184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90560" cy="1311846"/>
            </a:xfrm>
            <a:custGeom>
              <a:avLst/>
              <a:gdLst/>
              <a:ahLst/>
              <a:cxnLst/>
              <a:rect r="r" b="b" t="t" l="l"/>
              <a:pathLst>
                <a:path h="131184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11846"/>
                  </a:lnTo>
                  <a:lnTo>
                    <a:pt x="0" y="1311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53" r="0" b="-4172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290560" cy="134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Tratamiento de cadenas suci</a:t>
              </a: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as en campos geográficos mediante la función aplicar_fuzzy(). Corrección ortográfica y unificación probabilística de ciudades y estados frente a catálogos maestros.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863840" y="2011680"/>
            <a:ext cx="10058400" cy="6035040"/>
            <a:chOff x="0" y="0"/>
            <a:chExt cx="13411200" cy="8046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4112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863840" y="2011680"/>
            <a:ext cx="10058400" cy="237744"/>
            <a:chOff x="0" y="0"/>
            <a:chExt cx="13411200" cy="3169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0" cy="316992"/>
            </a:xfrm>
            <a:custGeom>
              <a:avLst/>
              <a:gdLst/>
              <a:ahLst/>
              <a:cxnLst/>
              <a:rect r="r" b="b" t="t" l="l"/>
              <a:pathLst>
                <a:path h="31699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7988346" y="2517887"/>
            <a:ext cx="9933894" cy="540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 limpieza_datos.py ===</a:t>
            </a:r>
          </a:p>
          <a:p>
            <a:pPr algn="l">
              <a:lnSpc>
                <a:spcPts val="2013"/>
              </a:lnSpc>
            </a:pP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1. Gestión de Calidad en Datos Estructurados (CSV)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nulos_inventario = df_inventario.isna().sum().sum()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print(f"Detectando valores nulos en Inventario: {nulos_inventario}")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df_inventario_limpio = df_inventario.fillna(0) </a:t>
            </a:r>
          </a:p>
          <a:p>
            <a:pPr algn="l">
              <a:lnSpc>
                <a:spcPts val="2013"/>
              </a:lnSpc>
            </a:pP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df_ventas_limpio = df_ventas.drop_duplicates(subset=["id_transaccion"])</a:t>
            </a:r>
          </a:p>
          <a:p>
            <a:pPr algn="l">
              <a:lnSpc>
                <a:spcPts val="2013"/>
              </a:lnSpc>
            </a:pP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2. Desestructuración de Formatos Mixtos (JSON)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if 'localizacion' in df_usuarios.columns: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print("Aplanando estructura semiestructurada de localización...")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loc_df = pd.json_normalize(df_usuarios['localizacion'])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loc_df.columns = ['ciudad', 'estado']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df_usuarios = pd.concat([df_usuarios.drop(columns=['localizacion']), loc_df], axis=1)</a:t>
            </a:r>
          </a:p>
          <a:p>
            <a:pPr algn="l">
              <a:lnSpc>
                <a:spcPts val="2013"/>
              </a:lnSpc>
            </a:pP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3. Tratamiento de Strings Sucios (Fuzzy Matching)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print("Normalizando texto y aplicando homologación probabilística...")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aplicar_fuzzy(df_usuarios, 'estado', cat_estados)</a:t>
            </a:r>
          </a:p>
          <a:p>
            <a:pPr algn="l">
              <a:lnSpc>
                <a:spcPts val="2013"/>
              </a:lnSpc>
            </a:pPr>
            <a:r>
              <a:rPr lang="en-US" sz="1677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aplicar_fuzzy(df_usuarios, 'ciudad', cat_capitales)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296662" y="8408479"/>
            <a:ext cx="4023360" cy="2194560"/>
            <a:chOff x="0" y="0"/>
            <a:chExt cx="5364480" cy="2926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296662" y="8408479"/>
            <a:ext cx="4023360" cy="128016"/>
            <a:chOff x="0" y="0"/>
            <a:chExt cx="5364480" cy="1706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296662" y="8591359"/>
            <a:ext cx="4023360" cy="1188720"/>
            <a:chOff x="0" y="0"/>
            <a:chExt cx="5364480" cy="1584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342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5296662" y="9741979"/>
            <a:ext cx="402336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nulos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imputados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3898880" y="8357616"/>
            <a:ext cx="4023360" cy="2194560"/>
            <a:chOff x="0" y="0"/>
            <a:chExt cx="5364480" cy="29260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898880" y="8326374"/>
            <a:ext cx="4023360" cy="128016"/>
            <a:chOff x="0" y="0"/>
            <a:chExt cx="5364480" cy="1706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898880" y="8635365"/>
            <a:ext cx="4023360" cy="1188720"/>
            <a:chOff x="0" y="0"/>
            <a:chExt cx="5364480" cy="1584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8,000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3898880" y="9608820"/>
            <a:ext cx="40233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Filas finales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5296662" y="8408479"/>
            <a:ext cx="4023360" cy="2194560"/>
            <a:chOff x="0" y="0"/>
            <a:chExt cx="5364480" cy="2926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296662" y="8408479"/>
            <a:ext cx="4023360" cy="128016"/>
            <a:chOff x="0" y="0"/>
            <a:chExt cx="5364480" cy="1706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265039" y="8732520"/>
            <a:ext cx="4023360" cy="1188720"/>
            <a:chOff x="0" y="0"/>
            <a:chExt cx="5364480" cy="15849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250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28700" y="8371713"/>
            <a:ext cx="4023360" cy="1915287"/>
            <a:chOff x="0" y="0"/>
            <a:chExt cx="5364480" cy="25537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64480" cy="2553716"/>
            </a:xfrm>
            <a:custGeom>
              <a:avLst/>
              <a:gdLst/>
              <a:ahLst/>
              <a:cxnLst/>
              <a:rect r="r" b="b" t="t" l="l"/>
              <a:pathLst>
                <a:path h="25537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553716"/>
                  </a:lnTo>
                  <a:lnTo>
                    <a:pt x="0" y="255371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060704" y="9715500"/>
            <a:ext cx="399135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Variables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028700" y="8371713"/>
            <a:ext cx="4023360" cy="128016"/>
            <a:chOff x="0" y="0"/>
            <a:chExt cx="5364480" cy="1706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28700" y="8662254"/>
            <a:ext cx="4023360" cy="1046931"/>
            <a:chOff x="0" y="0"/>
            <a:chExt cx="5364480" cy="139590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364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0" r="0" b="-1855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04775"/>
              <a:ext cx="5364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296662" y="9505759"/>
            <a:ext cx="4023360" cy="640080"/>
            <a:chOff x="0" y="0"/>
            <a:chExt cx="5364480" cy="8534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Registros nulos removidos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564624" y="8499729"/>
            <a:ext cx="4023360" cy="1828800"/>
            <a:chOff x="0" y="0"/>
            <a:chExt cx="5364480" cy="2438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64624" y="8371713"/>
            <a:ext cx="4023360" cy="128016"/>
            <a:chOff x="0" y="0"/>
            <a:chExt cx="5364480" cy="1706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597771" y="8728519"/>
            <a:ext cx="4023360" cy="1046931"/>
            <a:chOff x="0" y="0"/>
            <a:chExt cx="5364480" cy="139590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364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0" r="0" b="-1855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04775"/>
              <a:ext cx="5364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64624" y="9560433"/>
            <a:ext cx="4023360" cy="640080"/>
            <a:chOff x="0" y="0"/>
            <a:chExt cx="5364480" cy="853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Validación de integridad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— Fase 2: Enriquecimiento y Lógica de Negocio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Join multifuente + segmentación con np.where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2 DE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" y="2651760"/>
            <a:ext cx="4389120" cy="1737360"/>
            <a:chOff x="0" y="0"/>
            <a:chExt cx="5852160" cy="2316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2651760"/>
            <a:ext cx="4389120" cy="1737360"/>
            <a:chOff x="0" y="0"/>
            <a:chExt cx="5852160" cy="2316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85216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Ventas (SQL)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96990" y="2651760"/>
            <a:ext cx="4389120" cy="1737360"/>
            <a:chOff x="0" y="0"/>
            <a:chExt cx="5852160" cy="2316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96990" y="2651760"/>
            <a:ext cx="4389120" cy="1737360"/>
            <a:chOff x="0" y="0"/>
            <a:chExt cx="5852160" cy="2316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85216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Usuarios (NoSQL)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287931" y="2867512"/>
            <a:ext cx="2377440" cy="1371600"/>
            <a:chOff x="0" y="0"/>
            <a:chExt cx="316992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6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16992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LEFT JOIN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 id_cliente→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91010" y="2651760"/>
            <a:ext cx="6035040" cy="1737360"/>
            <a:chOff x="0" y="0"/>
            <a:chExt cx="8046720" cy="2316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91010" y="2651760"/>
            <a:ext cx="6035040" cy="1737360"/>
            <a:chOff x="0" y="0"/>
            <a:chExt cx="8046720" cy="2316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467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4672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df_master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(enriquecido)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81360" y="3050392"/>
            <a:ext cx="914400" cy="1005840"/>
            <a:chOff x="0" y="0"/>
            <a:chExt cx="121920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21920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➜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19674" y="4545055"/>
            <a:ext cx="4389120" cy="548640"/>
            <a:chOff x="0" y="0"/>
            <a:chExt cx="58521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-150000" b="-3397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Segmentos creados →  segmento_cliente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846320" y="5002012"/>
            <a:ext cx="4114800" cy="128016"/>
            <a:chOff x="0" y="0"/>
            <a:chExt cx="5486400" cy="170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170688"/>
            </a:xfrm>
            <a:custGeom>
              <a:avLst/>
              <a:gdLst/>
              <a:ahLst/>
              <a:cxnLst/>
              <a:rect r="r" b="b" t="t" l="l"/>
              <a:pathLst>
                <a:path h="1706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462274" y="5157703"/>
            <a:ext cx="4114800" cy="1371600"/>
            <a:chOff x="0" y="0"/>
            <a:chExt cx="548640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846320" y="5282428"/>
            <a:ext cx="3749040" cy="585216"/>
            <a:chOff x="0" y="0"/>
            <a:chExt cx="499872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26" r="0" b="-748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9987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Premium Joven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754880" y="5785660"/>
            <a:ext cx="3749040" cy="640080"/>
            <a:chOff x="0" y="0"/>
            <a:chExt cx="499872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99872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monto </a:t>
              </a:r>
              <a:r>
                <a:rPr lang="en-US" sz="1399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&gt; 1000 &amp; edad &lt; 30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0" y="5029687"/>
            <a:ext cx="4114800" cy="128016"/>
            <a:chOff x="0" y="0"/>
            <a:chExt cx="5486400" cy="170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70688"/>
            </a:xfrm>
            <a:custGeom>
              <a:avLst/>
              <a:gdLst/>
              <a:ahLst/>
              <a:cxnLst/>
              <a:rect r="r" b="b" t="t" l="l"/>
              <a:pathLst>
                <a:path h="1706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74649" y="5157703"/>
            <a:ext cx="4114800" cy="1371600"/>
            <a:chOff x="0" y="0"/>
            <a:chExt cx="5486400" cy="1828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0" y="5258287"/>
            <a:ext cx="3749040" cy="585216"/>
            <a:chOff x="0" y="0"/>
            <a:chExt cx="499872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9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26" r="0" b="-7482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9987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Estándar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65218" y="5700628"/>
            <a:ext cx="4093582" cy="682371"/>
            <a:chOff x="0" y="0"/>
            <a:chExt cx="5458110" cy="9098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58110" cy="909828"/>
            </a:xfrm>
            <a:custGeom>
              <a:avLst/>
              <a:gdLst/>
              <a:ahLst/>
              <a:cxnLst/>
              <a:rect r="r" b="b" t="t" l="l"/>
              <a:pathLst>
                <a:path h="909828" w="5458110">
                  <a:moveTo>
                    <a:pt x="0" y="0"/>
                  </a:moveTo>
                  <a:lnTo>
                    <a:pt x="5458110" y="0"/>
                  </a:lnTo>
                  <a:lnTo>
                    <a:pt x="5458110" y="909828"/>
                  </a:lnTo>
                  <a:lnTo>
                    <a:pt x="0" y="9098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52" r="8416" b="-5395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5458110" cy="938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Cualquier otro caso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65760" y="6767047"/>
            <a:ext cx="17560290" cy="3456184"/>
            <a:chOff x="0" y="0"/>
            <a:chExt cx="23413720" cy="460824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413720" cy="4608245"/>
            </a:xfrm>
            <a:custGeom>
              <a:avLst/>
              <a:gdLst/>
              <a:ahLst/>
              <a:cxnLst/>
              <a:rect r="r" b="b" t="t" l="l"/>
              <a:pathLst>
                <a:path h="4608245" w="23413720">
                  <a:moveTo>
                    <a:pt x="0" y="0"/>
                  </a:moveTo>
                  <a:lnTo>
                    <a:pt x="23413720" y="0"/>
                  </a:lnTo>
                  <a:lnTo>
                    <a:pt x="23413720" y="4608245"/>
                  </a:lnTo>
                  <a:lnTo>
                    <a:pt x="0" y="4608245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65760" y="6529303"/>
            <a:ext cx="17560290" cy="237744"/>
            <a:chOff x="0" y="0"/>
            <a:chExt cx="23413720" cy="3169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413720" cy="316992"/>
            </a:xfrm>
            <a:custGeom>
              <a:avLst/>
              <a:gdLst/>
              <a:ahLst/>
              <a:cxnLst/>
              <a:rect r="r" b="b" t="t" l="l"/>
              <a:pathLst>
                <a:path h="316992" w="23413720">
                  <a:moveTo>
                    <a:pt x="0" y="0"/>
                  </a:moveTo>
                  <a:lnTo>
                    <a:pt x="23413720" y="0"/>
                  </a:lnTo>
                  <a:lnTo>
                    <a:pt x="2341372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506674" y="6843247"/>
            <a:ext cx="7997246" cy="343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 analitica_visualizacion.py ===</a:t>
            </a:r>
          </a:p>
          <a:p>
            <a:pPr algn="l">
              <a:lnSpc>
                <a:spcPts val="1788"/>
              </a:lnSpc>
            </a:pP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1. Enriquecimiento del Dataset (Lógica de Negocio)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print("Generando segmentación estratégica de clientes...")</a:t>
            </a:r>
          </a:p>
          <a:p>
            <a:pPr algn="l">
              <a:lnSpc>
                <a:spcPts val="1788"/>
              </a:lnSpc>
            </a:pP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df["segmento_cliente"] = np.where(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(df["monto"] &gt; 1000) &amp; (df["edad"] &lt; 30),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"Premium Joven",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"Estándar"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1788"/>
              </a:lnSpc>
            </a:pP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2. Consolidación de variables cuantitativas para el PCA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variables_analisis = ["monto", "edad", "ingresos", "gastos_mensuales"]</a:t>
            </a:r>
          </a:p>
          <a:p>
            <a:pPr algn="l">
              <a:lnSpc>
                <a:spcPts val="1788"/>
              </a:lnSpc>
            </a:pPr>
            <a:r>
              <a:rPr lang="en-US" sz="149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print(f"Matriz analítica lista con {len(variables_analisis)} dimensiones base.")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Analítica Avanzada — PCA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Reducción de 20 variables a 3 componentes principales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3 DE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74824" y="2011680"/>
            <a:ext cx="8229600" cy="548640"/>
            <a:chOff x="0" y="0"/>
            <a:chExt cx="10972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Varianza Explicada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5760" y="2651760"/>
            <a:ext cx="914400" cy="640080"/>
            <a:chOff x="0" y="0"/>
            <a:chExt cx="12192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19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2743200"/>
            <a:ext cx="7863840" cy="457200"/>
            <a:chOff x="0" y="0"/>
            <a:chExt cx="1048512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2743200"/>
            <a:ext cx="1854584" cy="457200"/>
            <a:chOff x="0" y="0"/>
            <a:chExt cx="2472779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72757" cy="609600"/>
            </a:xfrm>
            <a:custGeom>
              <a:avLst/>
              <a:gdLst/>
              <a:ahLst/>
              <a:cxnLst/>
              <a:rect r="r" b="b" t="t" l="l"/>
              <a:pathLst>
                <a:path h="609600" w="2472757">
                  <a:moveTo>
                    <a:pt x="0" y="0"/>
                  </a:moveTo>
                  <a:lnTo>
                    <a:pt x="2472757" y="0"/>
                  </a:lnTo>
                  <a:lnTo>
                    <a:pt x="2472757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598164" y="2741295"/>
            <a:ext cx="1097280" cy="640080"/>
            <a:chOff x="0" y="0"/>
            <a:chExt cx="14630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19.17</a:t>
              </a:r>
              <a:r>
                <a:rPr lang="en-US" sz="18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5760" y="3785616"/>
            <a:ext cx="914400" cy="640080"/>
            <a:chOff x="0" y="0"/>
            <a:chExt cx="12192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19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3877056"/>
            <a:ext cx="7863840" cy="457200"/>
            <a:chOff x="0" y="0"/>
            <a:chExt cx="1048512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3877056"/>
            <a:ext cx="1424799" cy="457200"/>
            <a:chOff x="0" y="0"/>
            <a:chExt cx="1899732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99770" cy="609600"/>
            </a:xfrm>
            <a:custGeom>
              <a:avLst/>
              <a:gdLst/>
              <a:ahLst/>
              <a:cxnLst/>
              <a:rect r="r" b="b" t="t" l="l"/>
              <a:pathLst>
                <a:path h="609600" w="1899770">
                  <a:moveTo>
                    <a:pt x="0" y="0"/>
                  </a:moveTo>
                  <a:lnTo>
                    <a:pt x="1899770" y="0"/>
                  </a:lnTo>
                  <a:lnTo>
                    <a:pt x="189977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226184" y="3785616"/>
            <a:ext cx="1097280" cy="640080"/>
            <a:chOff x="0" y="0"/>
            <a:chExt cx="14630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12.33</a:t>
              </a: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65760" y="4919472"/>
            <a:ext cx="914400" cy="640080"/>
            <a:chOff x="0" y="0"/>
            <a:chExt cx="121920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19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5010912"/>
            <a:ext cx="7863840" cy="457200"/>
            <a:chOff x="0" y="0"/>
            <a:chExt cx="1048512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5010912"/>
            <a:ext cx="982980" cy="457200"/>
            <a:chOff x="0" y="0"/>
            <a:chExt cx="131064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1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1310640">
                  <a:moveTo>
                    <a:pt x="0" y="0"/>
                  </a:moveTo>
                  <a:lnTo>
                    <a:pt x="1310640" y="0"/>
                  </a:lnTo>
                  <a:lnTo>
                    <a:pt x="13106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500884" y="4919472"/>
            <a:ext cx="1097280" cy="640080"/>
            <a:chOff x="0" y="0"/>
            <a:chExt cx="14630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463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9.29</a:t>
              </a:r>
              <a:r>
                <a:rPr lang="en-US" sz="18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65760" y="6181344"/>
            <a:ext cx="9144000" cy="548640"/>
            <a:chOff x="0" y="0"/>
            <a:chExt cx="121920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i="true">
                  <a:solidFill>
                    <a:srgbClr val="10B981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Total acumulado: 40.79%  (umbral: 40%)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65760" y="6858000"/>
            <a:ext cx="9144000" cy="512064"/>
            <a:chOff x="0" y="0"/>
            <a:chExt cx="1219200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Principales contribuyentes por componente: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65760" y="7493889"/>
            <a:ext cx="9509760" cy="479679"/>
            <a:chOff x="0" y="0"/>
            <a:chExt cx="12679680" cy="6395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679680" cy="639572"/>
            </a:xfrm>
            <a:custGeom>
              <a:avLst/>
              <a:gdLst/>
              <a:ahLst/>
              <a:cxnLst/>
              <a:rect r="r" b="b" t="t" l="l"/>
              <a:pathLst>
                <a:path h="63957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9572"/>
                  </a:lnTo>
                  <a:lnTo>
                    <a:pt x="0" y="63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920" r="0" b="-33967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2679680" cy="677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PC1: monto, gastos_mensuales, puntos_lealtad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65760" y="8010144"/>
            <a:ext cx="9509760" cy="512064"/>
            <a:chOff x="0" y="0"/>
            <a:chExt cx="1267968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2679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PC2: edad, ingresos, ratio_gasto_ingreso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65760" y="8558784"/>
            <a:ext cx="9509760" cy="512064"/>
            <a:chOff x="0" y="0"/>
            <a:chExt cx="1267968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2679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PC3: score_financiero, ahorro_estimado, indice_consumo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92640" y="2011680"/>
            <a:ext cx="8229600" cy="5120640"/>
            <a:chOff x="0" y="0"/>
            <a:chExt cx="10972800" cy="6827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692640" y="2011680"/>
            <a:ext cx="8229600" cy="237744"/>
            <a:chOff x="0" y="0"/>
            <a:chExt cx="10972800" cy="3169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316992"/>
            </a:xfrm>
            <a:custGeom>
              <a:avLst/>
              <a:gdLst/>
              <a:ahLst/>
              <a:cxnLst/>
              <a:rect r="r" b="b" t="t" l="l"/>
              <a:pathLst>
                <a:path h="3169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0003536" y="2348484"/>
            <a:ext cx="7607808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# ===analitica_visualizacion.py===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variables_pca = [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"monto", "edad", "ingresos", "gastos_mensuales", "puntos_lealtad",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"ratio_gasto_ingreso", "monto_por_edad", "nivel_lealtad",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"ingreso_anual_estimado", "ahorro_estimado", "indice_consumo",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"score_financiero", "comportamiento_1", "comportamiento_2",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"comportamiento_3", "comportamiento_4", "comportamiento_5",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"comportamiento_6", "comportamiento_7", "comportamiento_8"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scaler = MinMaxScaler()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variables_escaladas = scaler.fit_transform(df[variables_pca])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pca = PCA(n_components=3)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componentes = pca.fit_transform(df[variables_pca])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df["PCA_1"] = componentes[:, 0]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df["PCA_2"] = componentes[:, 1]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df["PCA_3"] = componentes[:, 2]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692640" y="7315200"/>
            <a:ext cx="8229600" cy="2743200"/>
            <a:chOff x="0" y="0"/>
            <a:chExt cx="10972800" cy="3657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75520" y="7406640"/>
            <a:ext cx="7863840" cy="548640"/>
            <a:chOff x="0" y="0"/>
            <a:chExt cx="104851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PCA?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75520" y="7799070"/>
            <a:ext cx="7680960" cy="1920240"/>
            <a:chOff x="0" y="0"/>
            <a:chExt cx="10241280" cy="25603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24128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20 variables correlacionadas, el algoritmo de PCA nos permite reducir el ruido y la 'maldición de la dimensionalidad' logramos concentrar el 40.79% de la varianza total en solo 3 componentes principales, facilitando la visualización 3D y el agrupamiento de los 8,000 clientes.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Visualización y Dashboard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Boxplots · Sankey · Scatter PCA — generados en Python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EA5E9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011680"/>
            <a:ext cx="3291840" cy="512064"/>
            <a:chOff x="0" y="0"/>
            <a:chExt cx="438912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891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b="true" sz="13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ENTREGABLE VISUAL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" y="2011680"/>
            <a:ext cx="5669280" cy="128016"/>
            <a:chOff x="0" y="0"/>
            <a:chExt cx="7559040" cy="1706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2139696"/>
            <a:ext cx="5669280" cy="2743200"/>
            <a:chOff x="0" y="0"/>
            <a:chExt cx="7559040" cy="365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590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194560"/>
            <a:ext cx="5303520" cy="640080"/>
            <a:chOff x="0" y="0"/>
            <a:chExt cx="707136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Outliers de Monto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2871216"/>
            <a:ext cx="5303520" cy="1112509"/>
            <a:chOff x="0" y="0"/>
            <a:chExt cx="7071360" cy="14833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1483345"/>
            </a:xfrm>
            <a:custGeom>
              <a:avLst/>
              <a:gdLst/>
              <a:ahLst/>
              <a:cxnLst/>
              <a:rect r="r" b="b" t="t" l="l"/>
              <a:pathLst>
                <a:path h="1483345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82" r="0" b="-380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71360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Identificación estadística de valores atipicos en el monto de transacción, esto es importante para limpiar el dataset y asegurar que el modelo de PCA no sea sesgado por compras extremas o errores de entrada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760" y="4882896"/>
            <a:ext cx="5669280" cy="2286000"/>
            <a:chOff x="0" y="0"/>
            <a:chExt cx="7559040" cy="304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65760" y="4882896"/>
            <a:ext cx="5669280" cy="146304"/>
            <a:chOff x="0" y="0"/>
            <a:chExt cx="7559040" cy="195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48640" y="5055489"/>
            <a:ext cx="53035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sns.boxplot(x=df["monto"])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345936" y="2011680"/>
            <a:ext cx="5669280" cy="128016"/>
            <a:chOff x="0" y="0"/>
            <a:chExt cx="7559040" cy="1706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45936" y="2139696"/>
            <a:ext cx="5669280" cy="2743200"/>
            <a:chOff x="0" y="0"/>
            <a:chExt cx="7559040" cy="365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28816" y="2194560"/>
            <a:ext cx="5303520" cy="640080"/>
            <a:chOff x="0" y="0"/>
            <a:chExt cx="707136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Sankey — Embudo Web → Compra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28816" y="2871216"/>
            <a:ext cx="5303520" cy="1112509"/>
            <a:chOff x="0" y="0"/>
            <a:chExt cx="7071360" cy="14833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1360" cy="1483345"/>
            </a:xfrm>
            <a:custGeom>
              <a:avLst/>
              <a:gdLst/>
              <a:ahLst/>
              <a:cxnLst/>
              <a:rect r="r" b="b" t="t" l="l"/>
              <a:pathLst>
                <a:path h="1483345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82" r="0" b="-380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071360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Visualización del embudo de conversión, mapea el trayecto desde las visitas iniciales, pasando por el checkout, hasta la compra final, permitiendo medir la tasa de abandono real en cada etapa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45936" y="4882896"/>
            <a:ext cx="5669280" cy="2286000"/>
            <a:chOff x="0" y="0"/>
            <a:chExt cx="7559040" cy="304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590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345936" y="4882896"/>
            <a:ext cx="5669280" cy="146304"/>
            <a:chOff x="0" y="0"/>
            <a:chExt cx="7559040" cy="1950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528816" y="5010150"/>
            <a:ext cx="3501321" cy="215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isitas = 3000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checkout = 1200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compras = 650</a:t>
            </a:r>
          </a:p>
          <a:p>
            <a:pPr algn="l">
              <a:lnSpc>
                <a:spcPts val="1072"/>
              </a:lnSpc>
            </a:pP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fig = go.Figure(data=[go.Sankey(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node=dict(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pad=15, thickness=20,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label=["Visitas Web", "Checkout", "Compra Final"]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),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link=dict(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source=[0, 1], 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target=[1, 2], 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    value=[visitas, compras]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</a:p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)])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326112" y="2011680"/>
            <a:ext cx="5669280" cy="128016"/>
            <a:chOff x="0" y="0"/>
            <a:chExt cx="7559040" cy="1706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26112" y="2139696"/>
            <a:ext cx="5669280" cy="2743200"/>
            <a:chOff x="0" y="0"/>
            <a:chExt cx="7559040" cy="3657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590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508992" y="2194560"/>
            <a:ext cx="5303520" cy="640080"/>
            <a:chOff x="0" y="0"/>
            <a:chExt cx="707136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Scatter — Clusters PCA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508992" y="2871216"/>
            <a:ext cx="5303520" cy="1112509"/>
            <a:chOff x="0" y="0"/>
            <a:chExt cx="7071360" cy="14833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1360" cy="1483345"/>
            </a:xfrm>
            <a:custGeom>
              <a:avLst/>
              <a:gdLst/>
              <a:ahLst/>
              <a:cxnLst/>
              <a:rect r="r" b="b" t="t" l="l"/>
              <a:pathLst>
                <a:path h="1483345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82" r="0" b="-380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071360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PC1 vs PC2 coloreado por segmento_cliente, permite validar visualmente la separación de los segmentos Premium Joven y Estándar, confirmando que nuestra regla de negocio tiene una base estadística sólida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26112" y="4882896"/>
            <a:ext cx="5669280" cy="2286000"/>
            <a:chOff x="0" y="0"/>
            <a:chExt cx="7559040" cy="3048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5904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326112" y="4882896"/>
            <a:ext cx="5669280" cy="146304"/>
            <a:chOff x="0" y="0"/>
            <a:chExt cx="7559040" cy="195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2508992" y="5055489"/>
            <a:ext cx="53035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sns.scatterplot(data=df, x="PCA_1", y="PCA_2", hue="segmento_cliente", alpha=0.7)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65760" y="7406640"/>
            <a:ext cx="17556480" cy="1828800"/>
            <a:chOff x="0" y="0"/>
            <a:chExt cx="23408640" cy="2438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4086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65760" y="7406640"/>
            <a:ext cx="219456" cy="1828800"/>
            <a:chOff x="0" y="0"/>
            <a:chExt cx="292608" cy="2438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08" cy="2438400"/>
            </a:xfrm>
            <a:custGeom>
              <a:avLst/>
              <a:gdLst/>
              <a:ahLst/>
              <a:cxnLst/>
              <a:rect r="r" b="b" t="t" l="l"/>
              <a:pathLst>
                <a:path h="24384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7498080"/>
            <a:ext cx="3657600" cy="640080"/>
            <a:chOff x="0" y="0"/>
            <a:chExt cx="48768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Archivo de Salida: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2960" y="8138160"/>
            <a:ext cx="8229600" cy="640080"/>
            <a:chOff x="0" y="0"/>
            <a:chExt cx="109728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0B98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data_master_clean.csv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65760" y="9509760"/>
            <a:ext cx="17556480" cy="548640"/>
            <a:chOff x="0" y="0"/>
            <a:chExt cx="2340864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34086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Librerías: matplotlib · seaborn · plotly · pandas · numpy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46304"/>
            <a:ext cx="16459200" cy="1024128"/>
            <a:chOff x="0" y="0"/>
            <a:chExt cx="21945600" cy="1365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44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Retos Encontrados y Soluciones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132332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Problemas reales durante el desarrollo del pipeline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760" y="2011680"/>
            <a:ext cx="8229600" cy="1645920"/>
            <a:chOff x="0" y="0"/>
            <a:chExt cx="1097280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2066544"/>
            <a:ext cx="7680960" cy="402336"/>
            <a:chOff x="0" y="0"/>
            <a:chExt cx="1024128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2487168"/>
            <a:ext cx="7680960" cy="1097280"/>
            <a:chOff x="0" y="0"/>
            <a:chExt cx="1024128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Errores ortográficos y variaciones de texto en campos geográficos (ciudad y estado).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86800" y="2468880"/>
            <a:ext cx="731520" cy="731520"/>
            <a:chOff x="0" y="0"/>
            <a:chExt cx="97536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DC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0" y="2011680"/>
            <a:ext cx="8412480" cy="1645920"/>
            <a:chOff x="0" y="0"/>
            <a:chExt cx="1121664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09760" y="2011680"/>
            <a:ext cx="128016" cy="1645920"/>
            <a:chOff x="0" y="0"/>
            <a:chExt cx="170688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47504" y="2066544"/>
            <a:ext cx="7863840" cy="402336"/>
            <a:chOff x="0" y="0"/>
            <a:chExt cx="10485120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47504" y="2487168"/>
            <a:ext cx="7863840" cy="1097280"/>
            <a:chOff x="0" y="0"/>
            <a:chExt cx="1048512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Corrección a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utomatizada mediante un algoritmo probabilístico de Fuzzy Matching.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5760" y="3931920"/>
            <a:ext cx="8229600" cy="1645920"/>
            <a:chOff x="0" y="0"/>
            <a:chExt cx="1097280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8640" y="3986784"/>
            <a:ext cx="7680960" cy="402336"/>
            <a:chOff x="0" y="0"/>
            <a:chExt cx="10241280" cy="5364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8640" y="4407408"/>
            <a:ext cx="7680960" cy="1097280"/>
            <a:chOff x="0" y="0"/>
            <a:chExt cx="1024128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Formatos de 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mixtos y registros corruptos en el histórico de ventas.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686800" y="4389120"/>
            <a:ext cx="731520" cy="731520"/>
            <a:chOff x="0" y="0"/>
            <a:chExt cx="97536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09760" y="3931920"/>
            <a:ext cx="8412480" cy="1645920"/>
            <a:chOff x="0" y="0"/>
            <a:chExt cx="11216640" cy="2194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09760" y="3931920"/>
            <a:ext cx="128016" cy="1645920"/>
            <a:chOff x="0" y="0"/>
            <a:chExt cx="170688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47504" y="3986784"/>
            <a:ext cx="7863840" cy="402336"/>
            <a:chOff x="0" y="0"/>
            <a:chExt cx="1048512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47504" y="4407408"/>
            <a:ext cx="7863840" cy="1097280"/>
            <a:chOff x="0" y="0"/>
            <a:chExt cx="1048512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Control de excepciones con try-except para forz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 la conversión a tipo fecha y remoción estricta con .dropna().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65760" y="5852160"/>
            <a:ext cx="8229600" cy="1645920"/>
            <a:chOff x="0" y="0"/>
            <a:chExt cx="1097280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48640" y="5907024"/>
            <a:ext cx="7680960" cy="402336"/>
            <a:chOff x="0" y="0"/>
            <a:chExt cx="1024128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48640" y="6327648"/>
            <a:ext cx="7680960" cy="1097280"/>
            <a:chOff x="0" y="0"/>
            <a:chExt cx="1024128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pacios vacíos de origen en la columna de disponibilidad física (Stock) en el Inventario.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686800" y="6309360"/>
            <a:ext cx="731520" cy="731520"/>
            <a:chOff x="0" y="0"/>
            <a:chExt cx="97536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09760" y="5852160"/>
            <a:ext cx="8412480" cy="1645920"/>
            <a:chOff x="0" y="0"/>
            <a:chExt cx="11216640" cy="2194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09760" y="5852160"/>
            <a:ext cx="128016" cy="1645920"/>
            <a:chOff x="0" y="0"/>
            <a:chExt cx="170688" cy="21945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747504" y="5907024"/>
            <a:ext cx="7863840" cy="402336"/>
            <a:chOff x="0" y="0"/>
            <a:chExt cx="1048512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47504" y="6327648"/>
            <a:ext cx="7863840" cy="1097280"/>
            <a:chOff x="0" y="0"/>
            <a:chExt cx="10485120" cy="14630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mputación fija de seguridad inicializada en cero utilizando .fillna(0).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65760" y="7772400"/>
            <a:ext cx="8229600" cy="1645920"/>
            <a:chOff x="0" y="0"/>
            <a:chExt cx="10972800" cy="2194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48640" y="7827264"/>
            <a:ext cx="7680960" cy="402336"/>
            <a:chOff x="0" y="0"/>
            <a:chExt cx="10241280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RETO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48640" y="8247888"/>
            <a:ext cx="7680960" cy="1097280"/>
            <a:chOff x="0" y="0"/>
            <a:chExt cx="10241280" cy="1463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tos sociodemográficos anidados dentro de estructuras complejas no relacionales.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686800" y="8229600"/>
            <a:ext cx="731520" cy="731520"/>
            <a:chOff x="0" y="0"/>
            <a:chExt cx="97536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0B9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09760" y="7772400"/>
            <a:ext cx="8412480" cy="1645920"/>
            <a:chOff x="0" y="0"/>
            <a:chExt cx="11216640" cy="21945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216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09760" y="7772400"/>
            <a:ext cx="128016" cy="1645920"/>
            <a:chOff x="0" y="0"/>
            <a:chExt cx="170688" cy="21945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47504" y="7827264"/>
            <a:ext cx="7863840" cy="402336"/>
            <a:chOff x="0" y="0"/>
            <a:chExt cx="10485120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SOLUCIÓN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47504" y="8247888"/>
            <a:ext cx="7863840" cy="1097280"/>
            <a:chOff x="0" y="0"/>
            <a:chExt cx="10485120" cy="14630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485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</a:t>
              </a: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estructuración y aplanamiento de llaves con pd.json_normalize() hacia columnas tabulares.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" cy="10287000"/>
            <a:chOff x="0" y="0"/>
            <a:chExt cx="1219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" y="548640"/>
            <a:ext cx="15544800" cy="1123801"/>
            <a:chOff x="0" y="0"/>
            <a:chExt cx="20726400" cy="1498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703" r="0" b="-21834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07264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Conclusión 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" y="1609344"/>
            <a:ext cx="15544800" cy="1005840"/>
            <a:chOff x="0" y="0"/>
            <a:chExt cx="2072640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Entregables del Proyecto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779776"/>
            <a:ext cx="11887200" cy="73152"/>
            <a:chOff x="0" y="0"/>
            <a:chExt cx="15849600" cy="97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97536"/>
            </a:xfrm>
            <a:custGeom>
              <a:avLst/>
              <a:gdLst/>
              <a:ahLst/>
              <a:cxnLst/>
              <a:rect r="r" b="b" t="t" l="l"/>
              <a:pathLst>
                <a:path h="97536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017520"/>
            <a:ext cx="10607040" cy="2560320"/>
            <a:chOff x="0" y="0"/>
            <a:chExt cx="1414272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42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3017520"/>
            <a:ext cx="10607040" cy="128016"/>
            <a:chOff x="0" y="0"/>
            <a:chExt cx="14142720" cy="1706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42720" cy="170688"/>
            </a:xfrm>
            <a:custGeom>
              <a:avLst/>
              <a:gdLst/>
              <a:ahLst/>
              <a:cxnLst/>
              <a:rect r="r" b="b" t="t" l="l"/>
              <a:pathLst>
                <a:path h="17068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5920" y="3145536"/>
            <a:ext cx="10058400" cy="585216"/>
            <a:chOff x="0" y="0"/>
            <a:chExt cx="1341120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</a:t>
              </a:r>
              <a:r>
                <a:rPr lang="en-US" sz="2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scubrimiento central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3803904"/>
            <a:ext cx="10058400" cy="1645920"/>
            <a:chOff x="0" y="0"/>
            <a:chExt cx="1341120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4112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segmento 'Premium Joven' (monto &gt; 1000 &amp; edad &lt; 30) es validado mediante PCA, mostrando una agrupación diferenciada en el plano PC1-PC2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35840" y="2830068"/>
            <a:ext cx="5486400" cy="585216"/>
            <a:chOff x="0" y="0"/>
            <a:chExt cx="731520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780288"/>
            </a:xfrm>
            <a:custGeom>
              <a:avLst/>
              <a:gdLst/>
              <a:ahLst/>
              <a:cxnLst/>
              <a:rect r="r" b="b" t="t" l="l"/>
              <a:pathLst>
                <a:path h="7802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Entregables: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35840" y="3212973"/>
            <a:ext cx="5486400" cy="475488"/>
            <a:chOff x="0" y="0"/>
            <a:chExt cx="7315200" cy="633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main.py 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35840" y="3743325"/>
            <a:ext cx="5486400" cy="475488"/>
            <a:chOff x="0" y="0"/>
            <a:chExt cx="731520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limpieza_datos.py 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35840" y="4273677"/>
            <a:ext cx="5486400" cy="475488"/>
            <a:chOff x="0" y="0"/>
            <a:chExt cx="7315200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data_master_clean.csv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35840" y="4804029"/>
            <a:ext cx="5486400" cy="475488"/>
            <a:chOff x="0" y="0"/>
            <a:chExt cx="7315200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conexiones.py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35840" y="5340096"/>
            <a:ext cx="5486400" cy="475488"/>
            <a:chOff x="0" y="0"/>
            <a:chExt cx="7315200" cy="6339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315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  analitica_visualizacion.py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5024" y="5749671"/>
            <a:ext cx="16459200" cy="109728"/>
            <a:chOff x="0" y="0"/>
            <a:chExt cx="21945600" cy="1463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6126480"/>
            <a:ext cx="16459200" cy="548640"/>
            <a:chOff x="0" y="0"/>
            <a:chExt cx="2194560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Resumen del Pipeline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1600" y="6803136"/>
            <a:ext cx="2523744" cy="1737360"/>
            <a:chOff x="0" y="0"/>
            <a:chExt cx="3364992" cy="2316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6803136"/>
            <a:ext cx="2523744" cy="128016"/>
            <a:chOff x="0" y="0"/>
            <a:chExt cx="3364992" cy="170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71600" y="6986016"/>
            <a:ext cx="2523744" cy="1463040"/>
            <a:chOff x="0" y="0"/>
            <a:chExt cx="3364992" cy="1950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Extracción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895344" y="7223760"/>
            <a:ext cx="256032" cy="822960"/>
            <a:chOff x="0" y="0"/>
            <a:chExt cx="341376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151376" y="6803136"/>
            <a:ext cx="2523744" cy="1737360"/>
            <a:chOff x="0" y="0"/>
            <a:chExt cx="3364992" cy="2316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151376" y="6803136"/>
            <a:ext cx="2523744" cy="128016"/>
            <a:chOff x="0" y="0"/>
            <a:chExt cx="3364992" cy="1706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151376" y="6986016"/>
            <a:ext cx="2523744" cy="1463040"/>
            <a:chOff x="0" y="0"/>
            <a:chExt cx="3364992" cy="1950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Limpieza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nulos/dupl.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675120" y="7223760"/>
            <a:ext cx="256032" cy="822960"/>
            <a:chOff x="0" y="0"/>
            <a:chExt cx="341376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931152" y="6803136"/>
            <a:ext cx="2523744" cy="1737360"/>
            <a:chOff x="0" y="0"/>
            <a:chExt cx="3364992" cy="23164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931152" y="6803136"/>
            <a:ext cx="2523744" cy="128016"/>
            <a:chOff x="0" y="0"/>
            <a:chExt cx="3364992" cy="1706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931152" y="6986016"/>
            <a:ext cx="2523744" cy="1463040"/>
            <a:chOff x="0" y="0"/>
            <a:chExt cx="3364992" cy="19507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MinMax Scaling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454896" y="7223760"/>
            <a:ext cx="256032" cy="822960"/>
            <a:chOff x="0" y="0"/>
            <a:chExt cx="341376" cy="1097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710928" y="6803136"/>
            <a:ext cx="2523744" cy="1737360"/>
            <a:chOff x="0" y="0"/>
            <a:chExt cx="3364992" cy="23164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710928" y="6803136"/>
            <a:ext cx="2523744" cy="128016"/>
            <a:chOff x="0" y="0"/>
            <a:chExt cx="3364992" cy="1706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710928" y="6986016"/>
            <a:ext cx="2523744" cy="1463040"/>
            <a:chOff x="0" y="0"/>
            <a:chExt cx="3364992" cy="19507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Enriquecimiento (Left Join)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234672" y="7223760"/>
            <a:ext cx="256032" cy="822960"/>
            <a:chOff x="0" y="0"/>
            <a:chExt cx="341376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490704" y="6803136"/>
            <a:ext cx="2523744" cy="1737360"/>
            <a:chOff x="0" y="0"/>
            <a:chExt cx="3364992" cy="23164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490704" y="6803136"/>
            <a:ext cx="2523744" cy="128016"/>
            <a:chOff x="0" y="0"/>
            <a:chExt cx="3364992" cy="1706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490704" y="6986016"/>
            <a:ext cx="2523744" cy="1463040"/>
            <a:chOff x="0" y="0"/>
            <a:chExt cx="3364992" cy="19507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PCA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componentes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014448" y="7223760"/>
            <a:ext cx="256032" cy="822960"/>
            <a:chOff x="0" y="0"/>
            <a:chExt cx="341376" cy="1097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1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34137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EA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270480" y="6803136"/>
            <a:ext cx="2523744" cy="1737360"/>
            <a:chOff x="0" y="0"/>
            <a:chExt cx="3364992" cy="23164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64992" cy="2316480"/>
            </a:xfrm>
            <a:custGeom>
              <a:avLst/>
              <a:gdLst/>
              <a:ahLst/>
              <a:cxnLst/>
              <a:rect r="r" b="b" t="t" l="l"/>
              <a:pathLst>
                <a:path h="23164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270480" y="6803136"/>
            <a:ext cx="2523744" cy="128016"/>
            <a:chOff x="0" y="0"/>
            <a:chExt cx="3364992" cy="1706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364992" cy="170688"/>
            </a:xfrm>
            <a:custGeom>
              <a:avLst/>
              <a:gdLst/>
              <a:ahLst/>
              <a:cxnLst/>
              <a:rect r="r" b="b" t="t" l="l"/>
              <a:pathLst>
                <a:path h="17068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270480" y="6986016"/>
            <a:ext cx="2523744" cy="1463040"/>
            <a:chOff x="0" y="0"/>
            <a:chExt cx="3364992" cy="19507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3364992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(PNG/HTML)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.csv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4383487" y="9026271"/>
            <a:ext cx="1287581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9"/>
              </a:lnSpc>
              <a:spcBef>
                <a:spcPct val="0"/>
              </a:spcBef>
            </a:pPr>
            <a:r>
              <a:rPr lang="en-US" sz="3299" strike="noStrike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github.com/LinkTrifuerza/Pipeline-de-datos-automatizado-ETL-"/>
              </a:rPr>
              <a:t>https://github.com/LinkTrifuerza/Pipeline-de-datos-automatizado-ETL-  </a:t>
            </a:r>
          </a:p>
          <a:p>
            <a:pPr algn="l" marL="0" indent="0" lvl="0">
              <a:lnSpc>
                <a:spcPts val="3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DAHKhnslLF8</dc:identifier>
  <dcterms:modified xsi:type="dcterms:W3CDTF">2011-08-01T06:04:30Z</dcterms:modified>
  <cp:revision>1</cp:revision>
  <dc:title>RetailPipeline_Expo.pptx</dc:title>
</cp:coreProperties>
</file>