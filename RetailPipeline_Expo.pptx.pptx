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libri (MS) Bold" charset="1" panose="020F0702030404030204"/>
      <p:regular r:id="rId19"/>
    </p:embeddedFont>
    <p:embeddedFont>
      <p:font typeface="Calibri (MS) Italics" charset="1" panose="020F05020202040A0204"/>
      <p:regular r:id="rId20"/>
    </p:embeddedFont>
    <p:embeddedFont>
      <p:font typeface="Calibri (MS)" charset="1" panose="020F0502020204030204"/>
      <p:regular r:id="rId21"/>
    </p:embeddedFont>
    <p:embeddedFont>
      <p:font typeface="Consolas" charset="1" panose="020B0609020204030204"/>
      <p:regular r:id="rId23"/>
    </p:embeddedFont>
    <p:embeddedFont>
      <p:font typeface="Calibri (MS) Bold Italics" charset="1" panose="020F07020304040A0204"/>
      <p:regular r:id="rId29"/>
    </p:embeddedFont>
    <p:embeddedFont>
      <p:font typeface="Consolas Bold" charset="1" panose="020B070902020403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https://github.com/LinkTrifuerza/Pipeline-de-datos-automatizado-ETL-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" cy="10287000"/>
            <a:chOff x="0" y="0"/>
            <a:chExt cx="12192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44800" y="0"/>
            <a:ext cx="2743200" cy="10287000"/>
            <a:chOff x="0" y="0"/>
            <a:chExt cx="36576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57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544800" y="6949440"/>
            <a:ext cx="2743200" cy="3337560"/>
            <a:chOff x="0" y="0"/>
            <a:chExt cx="3657600" cy="4450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4450080"/>
            </a:xfrm>
            <a:custGeom>
              <a:avLst/>
              <a:gdLst/>
              <a:ahLst/>
              <a:cxnLst/>
              <a:rect r="r" b="b" t="t" l="l"/>
              <a:pathLst>
                <a:path h="44500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450080"/>
                  </a:lnTo>
                  <a:lnTo>
                    <a:pt x="0" y="4450080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2035700"/>
            <a:ext cx="14520423" cy="2459645"/>
            <a:chOff x="0" y="0"/>
            <a:chExt cx="19360564" cy="32795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360566" cy="3279527"/>
            </a:xfrm>
            <a:custGeom>
              <a:avLst/>
              <a:gdLst/>
              <a:ahLst/>
              <a:cxnLst/>
              <a:rect r="r" b="b" t="t" l="l"/>
              <a:pathLst>
                <a:path h="3279527" w="19360566">
                  <a:moveTo>
                    <a:pt x="0" y="0"/>
                  </a:moveTo>
                  <a:lnTo>
                    <a:pt x="19360566" y="0"/>
                  </a:lnTo>
                  <a:lnTo>
                    <a:pt x="19360566" y="3279527"/>
                  </a:lnTo>
                  <a:lnTo>
                    <a:pt x="0" y="32795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749" r="6799" b="-4066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42875"/>
              <a:ext cx="19360564" cy="34224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399"/>
                </a:lnSpc>
              </a:pPr>
              <a:r>
                <a:rPr lang="en-US" b="true" sz="6999" spc="20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Pipeline de</a:t>
              </a:r>
              <a:r>
                <a:rPr lang="en-US" b="true" sz="6999" spc="20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datos automatizado (ETL)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45920" y="4297680"/>
            <a:ext cx="10058400" cy="73152"/>
            <a:chOff x="0" y="0"/>
            <a:chExt cx="13411200" cy="975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11200" cy="97536"/>
            </a:xfrm>
            <a:custGeom>
              <a:avLst/>
              <a:gdLst/>
              <a:ahLst/>
              <a:cxnLst/>
              <a:rect r="r" b="b" t="t" l="l"/>
              <a:pathLst>
                <a:path h="97536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94A3B8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45920" y="4572000"/>
            <a:ext cx="13167360" cy="731520"/>
            <a:chOff x="0" y="0"/>
            <a:chExt cx="17556480" cy="975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556480" cy="975360"/>
            </a:xfrm>
            <a:custGeom>
              <a:avLst/>
              <a:gdLst/>
              <a:ahLst/>
              <a:cxnLst/>
              <a:rect r="r" b="b" t="t" l="l"/>
              <a:pathLst>
                <a:path h="97536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755648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Optimización de </a:t>
              </a:r>
              <a:r>
                <a:rPr lang="en-US" sz="26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Pipelines ETL y Reducción de Dimensionalidad (PCA) en Entornos Híbridos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45920" y="7863840"/>
            <a:ext cx="12801600" cy="548640"/>
            <a:chOff x="0" y="0"/>
            <a:chExt cx="170688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06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7068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Materia: </a:t>
              </a:r>
              <a:r>
                <a:rPr lang="en-US" sz="22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Programación de Procesamiento de Datos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45920" y="8595360"/>
            <a:ext cx="3657600" cy="548640"/>
            <a:chOff x="0" y="0"/>
            <a:chExt cx="487680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87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4876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EA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2026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45920" y="5484495"/>
            <a:ext cx="13167360" cy="2198370"/>
            <a:chOff x="0" y="0"/>
            <a:chExt cx="17556480" cy="29311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556480" cy="2931160"/>
            </a:xfrm>
            <a:custGeom>
              <a:avLst/>
              <a:gdLst/>
              <a:ahLst/>
              <a:cxnLst/>
              <a:rect r="r" b="b" t="t" l="l"/>
              <a:pathLst>
                <a:path h="293116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2931160"/>
                  </a:lnTo>
                  <a:lnTo>
                    <a:pt x="0" y="2931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069" r="0" b="-3334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7556480" cy="2988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Int</a:t>
              </a:r>
              <a:r>
                <a:rPr lang="en-US" sz="26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egrantes:</a:t>
              </a:r>
            </a:p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Cazarez Rochin Ricardo</a:t>
              </a:r>
            </a:p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Bustillos Landa Guimel</a:t>
              </a:r>
            </a:p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Orduño Angulo Gustavo</a:t>
              </a:r>
            </a:p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Vega García Susana Valentina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28800"/>
            <a:chOff x="0" y="0"/>
            <a:chExt cx="2438400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46304"/>
            <a:ext cx="16459200" cy="1024128"/>
            <a:chOff x="0" y="0"/>
            <a:chExt cx="21945600" cy="13655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365504"/>
            </a:xfrm>
            <a:custGeom>
              <a:avLst/>
              <a:gdLst/>
              <a:ahLst/>
              <a:cxnLst/>
              <a:rect r="r" b="b" t="t" l="l"/>
              <a:pathLst>
                <a:path h="13655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1945600" cy="144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Arquitectura de Extracción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31520" y="1132332"/>
            <a:ext cx="164592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EA5E9"/>
                </a:solidFill>
                <a:latin typeface="Calibri (MS)"/>
                <a:ea typeface="Calibri (MS)"/>
                <a:cs typeface="Calibri (MS)"/>
                <a:sym typeface="Calibri (MS)"/>
              </a:rPr>
              <a:t>Fuentes heterogéneas integradas en un solo pipeline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1964055"/>
            <a:ext cx="5654064" cy="3108960"/>
            <a:chOff x="0" y="0"/>
            <a:chExt cx="6873568" cy="3779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73568" cy="3779520"/>
            </a:xfrm>
            <a:custGeom>
              <a:avLst/>
              <a:gdLst/>
              <a:ahLst/>
              <a:cxnLst/>
              <a:rect r="r" b="b" t="t" l="l"/>
              <a:pathLst>
                <a:path h="3779520" w="6873568">
                  <a:moveTo>
                    <a:pt x="0" y="0"/>
                  </a:moveTo>
                  <a:lnTo>
                    <a:pt x="6873568" y="0"/>
                  </a:lnTo>
                  <a:lnTo>
                    <a:pt x="6873568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1964055"/>
            <a:ext cx="5654064" cy="1002890"/>
            <a:chOff x="0" y="0"/>
            <a:chExt cx="6873568" cy="1219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73568" cy="1219200"/>
            </a:xfrm>
            <a:custGeom>
              <a:avLst/>
              <a:gdLst/>
              <a:ahLst/>
              <a:cxnLst/>
              <a:rect r="r" b="b" t="t" l="l"/>
              <a:pathLst>
                <a:path h="1219200" w="6873568">
                  <a:moveTo>
                    <a:pt x="0" y="0"/>
                  </a:moveTo>
                  <a:lnTo>
                    <a:pt x="6873568" y="0"/>
                  </a:lnTo>
                  <a:lnTo>
                    <a:pt x="687356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20181" b="-376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6873568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39"/>
                </a:lnSpc>
              </a:pPr>
              <a:r>
                <a:rPr lang="en-US" sz="3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33405" y="2983845"/>
            <a:ext cx="5444655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17"/>
              </a:lnSpc>
              <a:spcBef>
                <a:spcPct val="0"/>
              </a:spcBef>
            </a:pPr>
            <a:r>
              <a:rPr lang="en-US" sz="2764" strike="noStrike" u="none">
                <a:solidFill>
                  <a:srgbClr val="D1FAE5"/>
                </a:solidFill>
                <a:latin typeface="Calibri (MS)"/>
                <a:ea typeface="Calibri (MS)"/>
                <a:cs typeface="Calibri (MS)"/>
                <a:sym typeface="Calibri (MS)"/>
              </a:rPr>
              <a:t>ventas_historicas</a:t>
            </a:r>
          </a:p>
          <a:p>
            <a:pPr algn="ctr" marL="0" indent="0" lvl="0">
              <a:lnSpc>
                <a:spcPts val="3317"/>
              </a:lnSpc>
              <a:spcBef>
                <a:spcPct val="0"/>
              </a:spcBef>
            </a:pPr>
            <a:r>
              <a:rPr lang="en-US" sz="2764" strike="noStrike" u="none">
                <a:solidFill>
                  <a:srgbClr val="D1FAE5"/>
                </a:solidFill>
                <a:latin typeface="Calibri (MS)"/>
                <a:ea typeface="Calibri (MS)"/>
                <a:cs typeface="Calibri (MS)"/>
                <a:sym typeface="Calibri (MS)"/>
              </a:rPr>
              <a:t>5,000–10,000 reg.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495904" y="1964055"/>
            <a:ext cx="5694816" cy="3108960"/>
            <a:chOff x="0" y="0"/>
            <a:chExt cx="6923110" cy="3779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23110" cy="3779520"/>
            </a:xfrm>
            <a:custGeom>
              <a:avLst/>
              <a:gdLst/>
              <a:ahLst/>
              <a:cxnLst/>
              <a:rect r="r" b="b" t="t" l="l"/>
              <a:pathLst>
                <a:path h="3779520" w="6923110">
                  <a:moveTo>
                    <a:pt x="0" y="0"/>
                  </a:moveTo>
                  <a:lnTo>
                    <a:pt x="6923110" y="0"/>
                  </a:lnTo>
                  <a:lnTo>
                    <a:pt x="692311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495904" y="1964055"/>
            <a:ext cx="5694816" cy="1002890"/>
            <a:chOff x="0" y="0"/>
            <a:chExt cx="6923110" cy="1219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2311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923110">
                  <a:moveTo>
                    <a:pt x="0" y="0"/>
                  </a:moveTo>
                  <a:lnTo>
                    <a:pt x="6923110" y="0"/>
                  </a:lnTo>
                  <a:lnTo>
                    <a:pt x="692311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20752" b="-3768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76200"/>
              <a:ext cx="692311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39"/>
                </a:lnSpc>
              </a:pPr>
              <a:r>
                <a:rPr lang="en-US" sz="3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NoSQL / Semiestructurado 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601363" y="3295527"/>
            <a:ext cx="5483897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7"/>
              </a:lnSpc>
            </a:pPr>
            <a:r>
              <a:rPr lang="en-US" sz="2764">
                <a:solidFill>
                  <a:srgbClr val="D1FAE5"/>
                </a:solidFill>
                <a:latin typeface="Calibri (MS)"/>
                <a:ea typeface="Calibri (MS)"/>
                <a:cs typeface="Calibri (MS)"/>
                <a:sym typeface="Calibri (MS)"/>
              </a:rPr>
              <a:t>perfiles_usuario.json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65760" y="5119688"/>
            <a:ext cx="17556480" cy="91440"/>
            <a:chOff x="0" y="0"/>
            <a:chExt cx="23408640" cy="1219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408639" cy="121920"/>
            </a:xfrm>
            <a:custGeom>
              <a:avLst/>
              <a:gdLst/>
              <a:ahLst/>
              <a:cxnLst/>
              <a:rect r="r" b="b" t="t" l="l"/>
              <a:pathLst>
                <a:path h="121920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00800" y="5092065"/>
            <a:ext cx="5486400" cy="548640"/>
            <a:chOff x="0" y="0"/>
            <a:chExt cx="731520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7315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EA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▼  ETL Pipeline (Python / Pandas)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65760" y="5696236"/>
            <a:ext cx="10607040" cy="4241049"/>
            <a:chOff x="0" y="0"/>
            <a:chExt cx="14142720" cy="565473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142720" cy="5654732"/>
            </a:xfrm>
            <a:custGeom>
              <a:avLst/>
              <a:gdLst/>
              <a:ahLst/>
              <a:cxnLst/>
              <a:rect r="r" b="b" t="t" l="l"/>
              <a:pathLst>
                <a:path h="5654732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5654732"/>
                  </a:lnTo>
                  <a:lnTo>
                    <a:pt x="0" y="5654732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365760" y="5458492"/>
            <a:ext cx="10607040" cy="237744"/>
            <a:chOff x="0" y="0"/>
            <a:chExt cx="14142720" cy="3169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142720" cy="316992"/>
            </a:xfrm>
            <a:custGeom>
              <a:avLst/>
              <a:gdLst/>
              <a:ahLst/>
              <a:cxnLst/>
              <a:rect r="r" b="b" t="t" l="l"/>
              <a:pathLst>
                <a:path h="316992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316992"/>
                  </a:lnTo>
                  <a:lnTo>
                    <a:pt x="0" y="316992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403404" y="5667661"/>
            <a:ext cx="10505783" cy="4269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1"/>
              </a:lnSpc>
            </a:pPr>
            <a:r>
              <a:rPr lang="en-US" sz="120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# === conexiones.py ===</a:t>
            </a:r>
          </a:p>
          <a:p>
            <a:pPr algn="l">
              <a:lnSpc>
                <a:spcPts val="1451"/>
              </a:lnSpc>
            </a:pPr>
            <a:r>
              <a:rPr lang="en-US" sz="120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import json</a:t>
            </a:r>
          </a:p>
          <a:p>
            <a:pPr algn="l">
              <a:lnSpc>
                <a:spcPts val="1451"/>
              </a:lnSpc>
            </a:pPr>
            <a:r>
              <a:rPr lang="en-US" sz="120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import pandas as pd</a:t>
            </a:r>
          </a:p>
          <a:p>
            <a:pPr algn="l">
              <a:lnSpc>
                <a:spcPts val="1451"/>
              </a:lnSpc>
            </a:pPr>
            <a:r>
              <a:rPr lang="en-US" sz="120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from sqlalchemy import create_engine</a:t>
            </a:r>
          </a:p>
          <a:p>
            <a:pPr algn="l">
              <a:lnSpc>
                <a:spcPts val="1451"/>
              </a:lnSpc>
            </a:pPr>
          </a:p>
          <a:p>
            <a:pPr algn="l">
              <a:lnSpc>
                <a:spcPts val="1451"/>
              </a:lnSpc>
            </a:pPr>
            <a:r>
              <a:rPr lang="en-US" sz="120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def extraer_ventas(user, password, host, port, db):</a:t>
            </a:r>
          </a:p>
          <a:p>
            <a:pPr algn="l">
              <a:lnSpc>
                <a:spcPts val="1451"/>
              </a:lnSpc>
            </a:pPr>
            <a:r>
              <a:rPr lang="en-US" sz="120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# Conexión directa a la base de datos relacional PostgreSQL</a:t>
            </a:r>
          </a:p>
          <a:p>
            <a:pPr algn="l">
              <a:lnSpc>
                <a:spcPts val="1451"/>
              </a:lnSpc>
            </a:pPr>
            <a:r>
              <a:rPr lang="en-US" sz="120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engine_postgres = create_engine(f"postgresql+psycopg2://{user}:{password}@{host}:{port}/{db}")</a:t>
            </a:r>
          </a:p>
          <a:p>
            <a:pPr algn="l">
              <a:lnSpc>
                <a:spcPts val="1451"/>
              </a:lnSpc>
            </a:pPr>
            <a:r>
              <a:rPr lang="en-US" sz="120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query = "SELECT * FROM ventas_historicas"</a:t>
            </a:r>
          </a:p>
          <a:p>
            <a:pPr algn="l">
              <a:lnSpc>
                <a:spcPts val="1451"/>
              </a:lnSpc>
            </a:pPr>
            <a:r>
              <a:rPr lang="en-US" sz="120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df_ventas = pd.read_sql(query, engine_postgres)</a:t>
            </a:r>
          </a:p>
          <a:p>
            <a:pPr algn="l">
              <a:lnSpc>
                <a:spcPts val="1451"/>
              </a:lnSpc>
            </a:pPr>
            <a:r>
              <a:rPr lang="en-US" sz="120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return df_ventas</a:t>
            </a:r>
          </a:p>
          <a:p>
            <a:pPr algn="l">
              <a:lnSpc>
                <a:spcPts val="1451"/>
              </a:lnSpc>
            </a:pPr>
          </a:p>
          <a:p>
            <a:pPr algn="l">
              <a:lnSpc>
                <a:spcPts val="1451"/>
              </a:lnSpc>
            </a:pPr>
            <a:r>
              <a:rPr lang="en-US" sz="120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def extraer_usuarios():</a:t>
            </a:r>
          </a:p>
          <a:p>
            <a:pPr algn="l">
              <a:lnSpc>
                <a:spcPts val="1451"/>
              </a:lnSpc>
            </a:pPr>
            <a:r>
              <a:rPr lang="en-US" sz="120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# Apertura y lectura del archivo semiestructurado JSON local</a:t>
            </a:r>
          </a:p>
          <a:p>
            <a:pPr algn="l">
              <a:lnSpc>
                <a:spcPts val="1451"/>
              </a:lnSpc>
            </a:pPr>
            <a:r>
              <a:rPr lang="en-US" sz="120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with open("perfiles_usuario.json", "r", encoding="utf8") as usuarios:</a:t>
            </a:r>
          </a:p>
          <a:p>
            <a:pPr algn="l">
              <a:lnSpc>
                <a:spcPts val="1451"/>
              </a:lnSpc>
            </a:pPr>
            <a:r>
              <a:rPr lang="en-US" sz="120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    datos = json.load(usuarios)</a:t>
            </a:r>
          </a:p>
          <a:p>
            <a:pPr algn="l">
              <a:lnSpc>
                <a:spcPts val="1451"/>
              </a:lnSpc>
            </a:pPr>
            <a:r>
              <a:rPr lang="en-US" sz="120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return datos</a:t>
            </a:r>
          </a:p>
          <a:p>
            <a:pPr algn="l">
              <a:lnSpc>
                <a:spcPts val="1451"/>
              </a:lnSpc>
            </a:pPr>
          </a:p>
          <a:p>
            <a:pPr algn="l">
              <a:lnSpc>
                <a:spcPts val="1451"/>
              </a:lnSpc>
            </a:pPr>
            <a:r>
              <a:rPr lang="en-US" sz="120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# === main.py ===</a:t>
            </a:r>
          </a:p>
          <a:p>
            <a:pPr algn="l">
              <a:lnSpc>
                <a:spcPts val="1451"/>
              </a:lnSpc>
            </a:pPr>
            <a:r>
              <a:rPr lang="en-US" sz="120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# Orquestación del proceso de extracción en el flujo principal</a:t>
            </a:r>
          </a:p>
          <a:p>
            <a:pPr algn="l">
              <a:lnSpc>
                <a:spcPts val="1451"/>
              </a:lnSpc>
            </a:pPr>
            <a:r>
              <a:rPr lang="en-US" sz="120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ventas = extraer_ventas(postgres_user, postgres_password, postgres_host, postgres_port, postgres_db)</a:t>
            </a:r>
          </a:p>
          <a:p>
            <a:pPr algn="l">
              <a:lnSpc>
                <a:spcPts val="1451"/>
              </a:lnSpc>
            </a:pPr>
            <a:r>
              <a:rPr lang="en-US" sz="120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usuarios = extraer_usuarios()</a:t>
            </a:r>
          </a:p>
          <a:p>
            <a:pPr algn="l">
              <a:lnSpc>
                <a:spcPts val="1451"/>
              </a:lnSpc>
            </a:pPr>
            <a:r>
              <a:rPr lang="en-US" sz="120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df_usuarios = pd.DataFrame(usuarios)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774314" y="5715000"/>
            <a:ext cx="4023360" cy="2194560"/>
            <a:chOff x="0" y="0"/>
            <a:chExt cx="5364480" cy="2926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644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774314" y="5715000"/>
            <a:ext cx="4023360" cy="128016"/>
            <a:chOff x="0" y="0"/>
            <a:chExt cx="5364480" cy="17068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64480" cy="170688"/>
            </a:xfrm>
            <a:custGeom>
              <a:avLst/>
              <a:gdLst/>
              <a:ahLst/>
              <a:cxnLst/>
              <a:rect r="r" b="b" t="t" l="l"/>
              <a:pathLst>
                <a:path h="17068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774314" y="5897880"/>
            <a:ext cx="4023360" cy="1188720"/>
            <a:chOff x="0" y="0"/>
            <a:chExt cx="5364480" cy="15849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644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14300"/>
              <a:ext cx="5364480" cy="1699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0EA5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2774314" y="7048500"/>
            <a:ext cx="4023360" cy="73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fuentes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integradas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2774314" y="8001000"/>
            <a:ext cx="4023360" cy="2194560"/>
            <a:chOff x="0" y="0"/>
            <a:chExt cx="5364480" cy="29260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644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774314" y="8001000"/>
            <a:ext cx="4023360" cy="128016"/>
            <a:chOff x="0" y="0"/>
            <a:chExt cx="5364480" cy="17068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364480" cy="170688"/>
            </a:xfrm>
            <a:custGeom>
              <a:avLst/>
              <a:gdLst/>
              <a:ahLst/>
              <a:cxnLst/>
              <a:rect r="r" b="b" t="t" l="l"/>
              <a:pathLst>
                <a:path h="17068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774314" y="8183880"/>
            <a:ext cx="4023360" cy="1188720"/>
            <a:chOff x="0" y="0"/>
            <a:chExt cx="5364480" cy="15849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3644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14300"/>
              <a:ext cx="5364480" cy="1699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0EA5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5K+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2774314" y="9334500"/>
            <a:ext cx="4023360" cy="73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registros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SQL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365760" y="9813703"/>
            <a:ext cx="6921331" cy="640080"/>
            <a:chOff x="0" y="0"/>
            <a:chExt cx="9228442" cy="8534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228442" cy="853440"/>
            </a:xfrm>
            <a:custGeom>
              <a:avLst/>
              <a:gdLst/>
              <a:ahLst/>
              <a:cxnLst/>
              <a:rect r="r" b="b" t="t" l="l"/>
              <a:pathLst>
                <a:path h="853440" w="9228442">
                  <a:moveTo>
                    <a:pt x="0" y="0"/>
                  </a:moveTo>
                  <a:lnTo>
                    <a:pt x="9228442" y="0"/>
                  </a:lnTo>
                  <a:lnTo>
                    <a:pt x="922844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7520" b="-14485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9228442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*Conexión relacional mapeada a DataFrame mediante SQLAlchemy y Psycopg2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28800"/>
            <a:chOff x="0" y="0"/>
            <a:chExt cx="2438400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46304"/>
            <a:ext cx="16459200" cy="1024128"/>
            <a:chOff x="0" y="0"/>
            <a:chExt cx="21945600" cy="13655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365504"/>
            </a:xfrm>
            <a:custGeom>
              <a:avLst/>
              <a:gdLst/>
              <a:ahLst/>
              <a:cxnLst/>
              <a:rect r="r" b="b" t="t" l="l"/>
              <a:pathLst>
                <a:path h="13655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1945600" cy="144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Calidad y Volumen del Dato Crudo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31520" y="1132332"/>
            <a:ext cx="164592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EA5E9"/>
                </a:solidFill>
                <a:latin typeface="Calibri (MS)"/>
                <a:ea typeface="Calibri (MS)"/>
                <a:cs typeface="Calibri (MS)"/>
                <a:sym typeface="Calibri (MS)"/>
              </a:rPr>
              <a:t>Estado inicial — datos intencionalemente 'sucios'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65760" y="2103120"/>
            <a:ext cx="4114800" cy="182880"/>
            <a:chOff x="0" y="0"/>
            <a:chExt cx="5486400" cy="243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86400" cy="243840"/>
            </a:xfrm>
            <a:custGeom>
              <a:avLst/>
              <a:gdLst/>
              <a:ahLst/>
              <a:cxnLst/>
              <a:rect r="r" b="b" t="t" l="l"/>
              <a:pathLst>
                <a:path h="2438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65760" y="2286000"/>
            <a:ext cx="4114800" cy="2743200"/>
            <a:chOff x="0" y="0"/>
            <a:chExt cx="5486400" cy="3657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864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48640" y="2377440"/>
            <a:ext cx="3749040" cy="731520"/>
            <a:chOff x="0" y="0"/>
            <a:chExt cx="4998720" cy="97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98720" cy="975360"/>
            </a:xfrm>
            <a:custGeom>
              <a:avLst/>
              <a:gdLst/>
              <a:ahLst/>
              <a:cxnLst/>
              <a:rect r="r" b="b" t="t" l="l"/>
              <a:pathLst>
                <a:path h="9753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60" r="0" b="-4986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499872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Nulos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54355" y="3108960"/>
            <a:ext cx="3749040" cy="1955639"/>
            <a:chOff x="0" y="0"/>
            <a:chExt cx="4998720" cy="260751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98720" cy="2607518"/>
            </a:xfrm>
            <a:custGeom>
              <a:avLst/>
              <a:gdLst/>
              <a:ahLst/>
              <a:cxnLst/>
              <a:rect r="r" b="b" t="t" l="l"/>
              <a:pathLst>
                <a:path h="2607518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2607518"/>
                  </a:lnTo>
                  <a:lnTo>
                    <a:pt x="0" y="26075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328" t="0" r="-6328" b="1583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998720" cy="26456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Presencia de valores faltantes en el archivo plano complementario (INVENTARIO.csv). Detección sistemática con .isna().sum() e imputación controlada mediante .fillna(0) para mitigar la pérdida de registros.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846320" y="2103120"/>
            <a:ext cx="4114800" cy="182880"/>
            <a:chOff x="0" y="0"/>
            <a:chExt cx="5486400" cy="243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86400" cy="243840"/>
            </a:xfrm>
            <a:custGeom>
              <a:avLst/>
              <a:gdLst/>
              <a:ahLst/>
              <a:cxnLst/>
              <a:rect r="r" b="b" t="t" l="l"/>
              <a:pathLst>
                <a:path h="2438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846320" y="2286000"/>
            <a:ext cx="4114800" cy="2743200"/>
            <a:chOff x="0" y="0"/>
            <a:chExt cx="5486400" cy="3657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029200" y="2377440"/>
            <a:ext cx="3749040" cy="731520"/>
            <a:chOff x="0" y="0"/>
            <a:chExt cx="4998720" cy="975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98720" cy="975360"/>
            </a:xfrm>
            <a:custGeom>
              <a:avLst/>
              <a:gdLst/>
              <a:ahLst/>
              <a:cxnLst/>
              <a:rect r="r" b="b" t="t" l="l"/>
              <a:pathLst>
                <a:path h="9753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60" r="0" b="-4986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499872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⊕  Duplicados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034915" y="3073561"/>
            <a:ext cx="3749040" cy="1955639"/>
            <a:chOff x="0" y="0"/>
            <a:chExt cx="4998720" cy="260751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98720" cy="2607518"/>
            </a:xfrm>
            <a:custGeom>
              <a:avLst/>
              <a:gdLst/>
              <a:ahLst/>
              <a:cxnLst/>
              <a:rect r="r" b="b" t="t" l="l"/>
              <a:pathLst>
                <a:path h="2607518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2607518"/>
                  </a:lnTo>
                  <a:lnTo>
                    <a:pt x="0" y="26075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328" t="0" r="-6328" b="1583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998720" cy="26456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Duplicidad técnica por redundancia en el identificador único id_transaccion dentro de la extracción relacional de SQL. Remoción mediante .drop_duplicates() para evitar la sobreestimación del volumen transaccional.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326880" y="2103120"/>
            <a:ext cx="4114800" cy="182880"/>
            <a:chOff x="0" y="0"/>
            <a:chExt cx="5486400" cy="243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486400" cy="243840"/>
            </a:xfrm>
            <a:custGeom>
              <a:avLst/>
              <a:gdLst/>
              <a:ahLst/>
              <a:cxnLst/>
              <a:rect r="r" b="b" t="t" l="l"/>
              <a:pathLst>
                <a:path h="2438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326880" y="2286000"/>
            <a:ext cx="4114800" cy="2743200"/>
            <a:chOff x="0" y="0"/>
            <a:chExt cx="5486400" cy="3657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4864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509760" y="2377440"/>
            <a:ext cx="3749040" cy="731520"/>
            <a:chOff x="0" y="0"/>
            <a:chExt cx="4998720" cy="9753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98720" cy="975360"/>
            </a:xfrm>
            <a:custGeom>
              <a:avLst/>
              <a:gdLst/>
              <a:ahLst/>
              <a:cxnLst/>
              <a:rect r="r" b="b" t="t" l="l"/>
              <a:pathLst>
                <a:path h="9753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60" r="0" b="-4986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499872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⟳  Formatos mixtos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504045" y="3108960"/>
            <a:ext cx="3749040" cy="1688939"/>
            <a:chOff x="0" y="0"/>
            <a:chExt cx="4998720" cy="225191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998720" cy="2251918"/>
            </a:xfrm>
            <a:custGeom>
              <a:avLst/>
              <a:gdLst/>
              <a:ahLst/>
              <a:cxnLst/>
              <a:rect r="r" b="b" t="t" l="l"/>
              <a:pathLst>
                <a:path h="2251918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2251918"/>
                  </a:lnTo>
                  <a:lnTo>
                    <a:pt x="0" y="22519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328" t="0" r="-6328" b="254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998720" cy="2290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Coexist</a:t>
              </a: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encia de registros con espaciados irregulares y uso inconsistente de mayúsculas y minúsculas en variables cualitativas extraídas de entornos semiestructurados.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807440" y="2103120"/>
            <a:ext cx="4114800" cy="182880"/>
            <a:chOff x="0" y="0"/>
            <a:chExt cx="5486400" cy="2438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486400" cy="243840"/>
            </a:xfrm>
            <a:custGeom>
              <a:avLst/>
              <a:gdLst/>
              <a:ahLst/>
              <a:cxnLst/>
              <a:rect r="r" b="b" t="t" l="l"/>
              <a:pathLst>
                <a:path h="2438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369A1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807440" y="2286000"/>
            <a:ext cx="4114800" cy="2743200"/>
            <a:chOff x="0" y="0"/>
            <a:chExt cx="5486400" cy="36576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4864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990320" y="2377440"/>
            <a:ext cx="3749040" cy="731520"/>
            <a:chOff x="0" y="0"/>
            <a:chExt cx="4998720" cy="9753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998720" cy="975360"/>
            </a:xfrm>
            <a:custGeom>
              <a:avLst/>
              <a:gdLst/>
              <a:ahLst/>
              <a:cxnLst/>
              <a:rect r="r" b="b" t="t" l="l"/>
              <a:pathLst>
                <a:path h="9753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60" r="0" b="-4986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499872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369A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≠  Strings sucios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984605" y="3108960"/>
            <a:ext cx="3749040" cy="1688939"/>
            <a:chOff x="0" y="0"/>
            <a:chExt cx="4998720" cy="225191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998720" cy="2251918"/>
            </a:xfrm>
            <a:custGeom>
              <a:avLst/>
              <a:gdLst/>
              <a:ahLst/>
              <a:cxnLst/>
              <a:rect r="r" b="b" t="t" l="l"/>
              <a:pathLst>
                <a:path h="2251918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2251918"/>
                  </a:lnTo>
                  <a:lnTo>
                    <a:pt x="0" y="22519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328" t="0" r="-6328" b="254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4998720" cy="2290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Variaciones lingüísticas y abreviaturas para una misma entidad geográfica ('mex', 'mx', 'mexico'). Aplicación de métodos en cadena (.str.lower().str.strip()) y mapeo homogéneo a la etiqueta única 'México'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365760" y="5486400"/>
            <a:ext cx="10607040" cy="4522321"/>
            <a:chOff x="0" y="0"/>
            <a:chExt cx="14142720" cy="602976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4142720" cy="6029761"/>
            </a:xfrm>
            <a:custGeom>
              <a:avLst/>
              <a:gdLst/>
              <a:ahLst/>
              <a:cxnLst/>
              <a:rect r="r" b="b" t="t" l="l"/>
              <a:pathLst>
                <a:path h="6029761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6029761"/>
                  </a:lnTo>
                  <a:lnTo>
                    <a:pt x="0" y="6029761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365760" y="5248656"/>
            <a:ext cx="10607040" cy="237744"/>
            <a:chOff x="0" y="0"/>
            <a:chExt cx="14142720" cy="3169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4142720" cy="316992"/>
            </a:xfrm>
            <a:custGeom>
              <a:avLst/>
              <a:gdLst/>
              <a:ahLst/>
              <a:cxnLst/>
              <a:rect r="r" b="b" t="t" l="l"/>
              <a:pathLst>
                <a:path h="316992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316992"/>
                  </a:lnTo>
                  <a:lnTo>
                    <a:pt x="0" y="316992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454343" y="5915025"/>
            <a:ext cx="10429875" cy="1630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6"/>
              </a:lnSpc>
            </a:pPr>
            <a:r>
              <a:rPr lang="en-US" sz="1314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# ===limpieza_datos.py ===</a:t>
            </a:r>
          </a:p>
          <a:p>
            <a:pPr algn="l">
              <a:lnSpc>
                <a:spcPts val="1576"/>
              </a:lnSpc>
            </a:pPr>
          </a:p>
          <a:p>
            <a:pPr algn="l">
              <a:lnSpc>
                <a:spcPts val="1576"/>
              </a:lnSpc>
            </a:pPr>
            <a:r>
              <a:rPr lang="en-US" sz="1314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total_antes = df_ventas.shape[0]</a:t>
            </a:r>
          </a:p>
          <a:p>
            <a:pPr algn="l">
              <a:lnSpc>
                <a:spcPts val="1576"/>
              </a:lnSpc>
            </a:pPr>
            <a:r>
              <a:rPr lang="en-US" sz="1314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df_ventas_limpio = df_ventas.drop_duplicates(subset=["id_transaccion"])</a:t>
            </a:r>
          </a:p>
          <a:p>
            <a:pPr algn="l">
              <a:lnSpc>
                <a:spcPts val="1576"/>
              </a:lnSpc>
            </a:pPr>
            <a:r>
              <a:rPr lang="en-US" sz="1314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duplicados_eliminados = total_antes - df_ventas_limpio.shape[0]</a:t>
            </a:r>
          </a:p>
          <a:p>
            <a:pPr algn="l">
              <a:lnSpc>
                <a:spcPts val="1576"/>
              </a:lnSpc>
            </a:pPr>
          </a:p>
          <a:p>
            <a:pPr algn="l">
              <a:lnSpc>
                <a:spcPts val="1576"/>
              </a:lnSpc>
            </a:pPr>
            <a:r>
              <a:rPr lang="en-US" sz="1314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df_usuarios['geolocalizacion'] = df_usuarios['geolocalizacion'].str.lower().str.strip()</a:t>
            </a:r>
          </a:p>
          <a:p>
            <a:pPr algn="l">
              <a:lnSpc>
                <a:spcPts val="1576"/>
              </a:lnSpc>
            </a:pPr>
            <a:r>
              <a:rPr lang="en-US" sz="1314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df_usuarios['geolocalizacion'] = df_usuarios['geolocalizacion'].replace(['mex', 'mx', 'mexico'], 'México')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1521440" y="5212080"/>
            <a:ext cx="6400800" cy="3931920"/>
            <a:chOff x="0" y="0"/>
            <a:chExt cx="8534400" cy="52425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534400" cy="5242560"/>
            </a:xfrm>
            <a:custGeom>
              <a:avLst/>
              <a:gdLst/>
              <a:ahLst/>
              <a:cxnLst/>
              <a:rect r="r" b="b" t="t" l="l"/>
              <a:pathLst>
                <a:path h="524256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5242560"/>
                  </a:lnTo>
                  <a:lnTo>
                    <a:pt x="0" y="524256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1521440" y="5303520"/>
            <a:ext cx="6400800" cy="585216"/>
            <a:chOff x="0" y="0"/>
            <a:chExt cx="8534400" cy="78028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534400" cy="780288"/>
            </a:xfrm>
            <a:custGeom>
              <a:avLst/>
              <a:gdLst/>
              <a:ahLst/>
              <a:cxnLst/>
              <a:rect r="r" b="b" t="t" l="l"/>
              <a:pathLst>
                <a:path h="78028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117" r="0" b="-16311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85344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 spc="400">
                  <a:solidFill>
                    <a:srgbClr val="0EA5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VOLÚMENES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704320" y="6387621"/>
            <a:ext cx="3474720" cy="595571"/>
            <a:chOff x="0" y="0"/>
            <a:chExt cx="4632960" cy="79409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632960" cy="794095"/>
            </a:xfrm>
            <a:custGeom>
              <a:avLst/>
              <a:gdLst/>
              <a:ahLst/>
              <a:cxnLst/>
              <a:rect r="r" b="b" t="t" l="l"/>
              <a:pathLst>
                <a:path h="794095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794095"/>
                  </a:lnTo>
                  <a:lnTo>
                    <a:pt x="0" y="7940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691" r="0" b="-5667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57150"/>
              <a:ext cx="4632960" cy="851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 ventas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5179040" y="6387621"/>
            <a:ext cx="2560320" cy="595571"/>
            <a:chOff x="0" y="0"/>
            <a:chExt cx="3413760" cy="79409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413760" cy="794095"/>
            </a:xfrm>
            <a:custGeom>
              <a:avLst/>
              <a:gdLst/>
              <a:ahLst/>
              <a:cxnLst/>
              <a:rect r="r" b="b" t="t" l="l"/>
              <a:pathLst>
                <a:path h="794095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94095"/>
                  </a:lnTo>
                  <a:lnTo>
                    <a:pt x="0" y="7940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75" r="0" b="-26754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57150"/>
              <a:ext cx="3413760" cy="851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599"/>
                </a:lnSpc>
              </a:pPr>
              <a:r>
                <a:rPr lang="en-US" sz="29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~7,500 filas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1704320" y="7482078"/>
            <a:ext cx="3474720" cy="595571"/>
            <a:chOff x="0" y="0"/>
            <a:chExt cx="4632960" cy="79409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632960" cy="794095"/>
            </a:xfrm>
            <a:custGeom>
              <a:avLst/>
              <a:gdLst/>
              <a:ahLst/>
              <a:cxnLst/>
              <a:rect r="r" b="b" t="t" l="l"/>
              <a:pathLst>
                <a:path h="794095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794095"/>
                  </a:lnTo>
                  <a:lnTo>
                    <a:pt x="0" y="7940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691" r="0" b="-5667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57150"/>
              <a:ext cx="4632960" cy="851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JSON perfiles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5179040" y="7535643"/>
            <a:ext cx="2560320" cy="595571"/>
            <a:chOff x="0" y="0"/>
            <a:chExt cx="3413760" cy="79409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413760" cy="794095"/>
            </a:xfrm>
            <a:custGeom>
              <a:avLst/>
              <a:gdLst/>
              <a:ahLst/>
              <a:cxnLst/>
              <a:rect r="r" b="b" t="t" l="l"/>
              <a:pathLst>
                <a:path h="794095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94095"/>
                  </a:lnTo>
                  <a:lnTo>
                    <a:pt x="0" y="7940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75" r="0" b="-26754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57150"/>
              <a:ext cx="3413760" cy="851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599"/>
                </a:lnSpc>
              </a:pPr>
              <a:r>
                <a:rPr lang="en-US" sz="29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~1,500 docs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365760" y="9877425"/>
            <a:ext cx="17556480" cy="548640"/>
            <a:chOff x="0" y="0"/>
            <a:chExt cx="23408640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3408639" cy="731520"/>
            </a:xfrm>
            <a:custGeom>
              <a:avLst/>
              <a:gdLst/>
              <a:ahLst/>
              <a:cxnLst/>
              <a:rect r="r" b="b" t="t" l="l"/>
              <a:pathLst>
                <a:path h="731520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23408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*Datos sintéticos generados con Faker/NumPy para simular escenario real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28800"/>
            <a:chOff x="0" y="0"/>
            <a:chExt cx="2438400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46304"/>
            <a:ext cx="16459200" cy="1024128"/>
            <a:chOff x="0" y="0"/>
            <a:chExt cx="21945600" cy="13655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365504"/>
            </a:xfrm>
            <a:custGeom>
              <a:avLst/>
              <a:gdLst/>
              <a:ahLst/>
              <a:cxnLst/>
              <a:rect r="r" b="b" t="t" l="l"/>
              <a:pathLst>
                <a:path h="13655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1945600" cy="144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Diccionario y Estandarización de Variables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31520" y="1132332"/>
            <a:ext cx="164592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EA5E9"/>
                </a:solidFill>
                <a:latin typeface="Calibri (MS)"/>
                <a:ea typeface="Calibri (MS)"/>
                <a:cs typeface="Calibri (MS)"/>
                <a:sym typeface="Calibri (MS)"/>
              </a:rPr>
              <a:t>Llaves primarias, tipos y convenciones unificadas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65760" y="1828800"/>
            <a:ext cx="17556480" cy="694944"/>
            <a:chOff x="0" y="0"/>
            <a:chExt cx="23408640" cy="9265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08639" cy="926592"/>
            </a:xfrm>
            <a:custGeom>
              <a:avLst/>
              <a:gdLst/>
              <a:ahLst/>
              <a:cxnLst/>
              <a:rect r="r" b="b" t="t" l="l"/>
              <a:pathLst>
                <a:path h="926592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57200" y="1828800"/>
            <a:ext cx="1737360" cy="694944"/>
            <a:chOff x="0" y="0"/>
            <a:chExt cx="2316480" cy="9265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16480" cy="926592"/>
            </a:xfrm>
            <a:custGeom>
              <a:avLst/>
              <a:gdLst/>
              <a:ahLst/>
              <a:cxnLst/>
              <a:rect r="r" b="b" t="t" l="l"/>
              <a:pathLst>
                <a:path h="92659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3164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Campo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286000" y="1828800"/>
            <a:ext cx="3931920" cy="694944"/>
            <a:chOff x="0" y="0"/>
            <a:chExt cx="5242560" cy="9265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242560" cy="926592"/>
            </a:xfrm>
            <a:custGeom>
              <a:avLst/>
              <a:gdLst/>
              <a:ahLst/>
              <a:cxnLst/>
              <a:rect r="r" b="b" t="t" l="l"/>
              <a:pathLst>
                <a:path h="926592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244" r="0" b="-6024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2425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Tipo Original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309360" y="1828800"/>
            <a:ext cx="3200400" cy="694944"/>
            <a:chOff x="0" y="0"/>
            <a:chExt cx="4267200" cy="9265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267200" cy="926592"/>
            </a:xfrm>
            <a:custGeom>
              <a:avLst/>
              <a:gdLst/>
              <a:ahLst/>
              <a:cxnLst/>
              <a:rect r="r" b="b" t="t" l="l"/>
              <a:pathLst>
                <a:path h="92659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33" r="0" b="-3973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2672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Tipo Final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601200" y="1828800"/>
            <a:ext cx="4480560" cy="694944"/>
            <a:chOff x="0" y="0"/>
            <a:chExt cx="5974080" cy="9265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974080" cy="926592"/>
            </a:xfrm>
            <a:custGeom>
              <a:avLst/>
              <a:gdLst/>
              <a:ahLst/>
              <a:cxnLst/>
              <a:rect r="r" b="b" t="t" l="l"/>
              <a:pathLst>
                <a:path h="926592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627" r="0" b="-7562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9740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Transformación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173200" y="1828800"/>
            <a:ext cx="3383280" cy="694944"/>
            <a:chOff x="0" y="0"/>
            <a:chExt cx="4511040" cy="9265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511040" cy="926592"/>
            </a:xfrm>
            <a:custGeom>
              <a:avLst/>
              <a:gdLst/>
              <a:ahLst/>
              <a:cxnLst/>
              <a:rect r="r" b="b" t="t" l="l"/>
              <a:pathLst>
                <a:path h="926592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861" r="0" b="-4486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5110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Ejemplo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65760" y="2523744"/>
            <a:ext cx="17556480" cy="658368"/>
            <a:chOff x="0" y="0"/>
            <a:chExt cx="23408640" cy="87782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3408639" cy="877824"/>
            </a:xfrm>
            <a:custGeom>
              <a:avLst/>
              <a:gdLst/>
              <a:ahLst/>
              <a:cxnLst/>
              <a:rect r="r" b="b" t="t" l="l"/>
              <a:pathLst>
                <a:path h="877824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365760" y="3111772"/>
            <a:ext cx="1737360" cy="658368"/>
            <a:chOff x="0" y="0"/>
            <a:chExt cx="2316480" cy="87782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316480" cy="877824"/>
            </a:xfrm>
            <a:custGeom>
              <a:avLst/>
              <a:gdLst/>
              <a:ahLst/>
              <a:cxnLst/>
              <a:rect r="r" b="b" t="t" l="l"/>
              <a:pathLst>
                <a:path h="877824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8" r="0" b="-141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31648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id_</a:t>
              </a:r>
              <a:r>
                <a:rPr lang="en-US" sz="17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cliente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240280" y="3111772"/>
            <a:ext cx="3931920" cy="658368"/>
            <a:chOff x="0" y="0"/>
            <a:chExt cx="5242560" cy="87782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242560" cy="877824"/>
            </a:xfrm>
            <a:custGeom>
              <a:avLst/>
              <a:gdLst/>
              <a:ahLst/>
              <a:cxnLst/>
              <a:rect r="r" b="b" t="t" l="l"/>
              <a:pathLst>
                <a:path h="877824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368" r="0" b="-6636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2425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objec</a:t>
              </a: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 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172200" y="2534412"/>
            <a:ext cx="3200400" cy="658368"/>
            <a:chOff x="0" y="0"/>
            <a:chExt cx="4267200" cy="87782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267200" cy="877824"/>
            </a:xfrm>
            <a:custGeom>
              <a:avLst/>
              <a:gdLst/>
              <a:ahLst/>
              <a:cxnLst/>
              <a:rect r="r" b="b" t="t" l="l"/>
              <a:pathLst>
                <a:path h="877824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18" r="0" b="-4471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42672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object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372600" y="2467737"/>
            <a:ext cx="4480560" cy="658368"/>
            <a:chOff x="0" y="0"/>
            <a:chExt cx="5974080" cy="87782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974080" cy="877824"/>
            </a:xfrm>
            <a:custGeom>
              <a:avLst/>
              <a:gdLst/>
              <a:ahLst/>
              <a:cxnLst/>
              <a:rect r="r" b="b" t="t" l="l"/>
              <a:pathLst>
                <a:path h="877824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606" r="0" b="-8260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5974080" cy="9063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Filtro de un</a:t>
              </a:r>
              <a:r>
                <a:rPr lang="en-US" sz="1399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icidad mediante .drop_duplicates(subset=["id_transaccion"])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081760" y="2523744"/>
            <a:ext cx="3383280" cy="658368"/>
            <a:chOff x="0" y="0"/>
            <a:chExt cx="4511040" cy="87782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511040" cy="877824"/>
            </a:xfrm>
            <a:custGeom>
              <a:avLst/>
              <a:gdLst/>
              <a:ahLst/>
              <a:cxnLst/>
              <a:rect r="r" b="b" t="t" l="l"/>
              <a:pathLst>
                <a:path h="877824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131" r="0" b="-5013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451104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</a:t>
              </a: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_10023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365760" y="3726180"/>
            <a:ext cx="1737360" cy="658368"/>
            <a:chOff x="0" y="0"/>
            <a:chExt cx="2316480" cy="87782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316480" cy="877824"/>
            </a:xfrm>
            <a:custGeom>
              <a:avLst/>
              <a:gdLst/>
              <a:ahLst/>
              <a:cxnLst/>
              <a:rect r="r" b="b" t="t" l="l"/>
              <a:pathLst>
                <a:path h="877824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8" r="0" b="-141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231648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</a:t>
              </a:r>
              <a:r>
                <a:rPr lang="en-US" sz="17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echa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240280" y="3645172"/>
            <a:ext cx="3931920" cy="658368"/>
            <a:chOff x="0" y="0"/>
            <a:chExt cx="5242560" cy="87782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242560" cy="877824"/>
            </a:xfrm>
            <a:custGeom>
              <a:avLst/>
              <a:gdLst/>
              <a:ahLst/>
              <a:cxnLst/>
              <a:rect r="r" b="b" t="t" l="l"/>
              <a:pathLst>
                <a:path h="877824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368" r="0" b="-6636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52425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string mixto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72200" y="3726180"/>
            <a:ext cx="3200400" cy="658368"/>
            <a:chOff x="0" y="0"/>
            <a:chExt cx="4267200" cy="87782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267200" cy="877824"/>
            </a:xfrm>
            <a:custGeom>
              <a:avLst/>
              <a:gdLst/>
              <a:ahLst/>
              <a:cxnLst/>
              <a:rect r="r" b="b" t="t" l="l"/>
              <a:pathLst>
                <a:path h="877824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18" r="0" b="-44718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42672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datetime64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372600" y="3067812"/>
            <a:ext cx="4480560" cy="658368"/>
            <a:chOff x="0" y="0"/>
            <a:chExt cx="5974080" cy="87782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974080" cy="877824"/>
            </a:xfrm>
            <a:custGeom>
              <a:avLst/>
              <a:gdLst/>
              <a:ahLst/>
              <a:cxnLst/>
              <a:rect r="r" b="b" t="t" l="l"/>
              <a:pathLst>
                <a:path h="877824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606" r="0" b="-8260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5974080" cy="9063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Lla</a:t>
              </a:r>
              <a:r>
                <a:rPr lang="en-US" sz="1399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ve primaria para el enriquecimiento Left Join con perfiles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4081760" y="3726180"/>
            <a:ext cx="3383280" cy="658368"/>
            <a:chOff x="0" y="0"/>
            <a:chExt cx="4511040" cy="87782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511040" cy="877824"/>
            </a:xfrm>
            <a:custGeom>
              <a:avLst/>
              <a:gdLst/>
              <a:ahLst/>
              <a:cxnLst/>
              <a:rect r="r" b="b" t="t" l="l"/>
              <a:pathLst>
                <a:path h="877824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131" r="0" b="-5013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451104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2026-05-15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365760" y="4303540"/>
            <a:ext cx="1737360" cy="658368"/>
            <a:chOff x="0" y="0"/>
            <a:chExt cx="2316480" cy="87782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316480" cy="877824"/>
            </a:xfrm>
            <a:custGeom>
              <a:avLst/>
              <a:gdLst/>
              <a:ahLst/>
              <a:cxnLst/>
              <a:rect r="r" b="b" t="t" l="l"/>
              <a:pathLst>
                <a:path h="877824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8" r="0" b="-1418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231648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geolocaliz</a:t>
              </a:r>
              <a:r>
                <a:rPr lang="en-US" sz="17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acion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2240280" y="4268370"/>
            <a:ext cx="3931920" cy="658368"/>
            <a:chOff x="0" y="0"/>
            <a:chExt cx="5242560" cy="87782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242560" cy="877824"/>
            </a:xfrm>
            <a:custGeom>
              <a:avLst/>
              <a:gdLst/>
              <a:ahLst/>
              <a:cxnLst/>
              <a:rect r="r" b="b" t="t" l="l"/>
              <a:pathLst>
                <a:path h="877824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368" r="0" b="-66368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52425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string sucio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172200" y="4303540"/>
            <a:ext cx="3200400" cy="658368"/>
            <a:chOff x="0" y="0"/>
            <a:chExt cx="4267200" cy="87782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267200" cy="877824"/>
            </a:xfrm>
            <a:custGeom>
              <a:avLst/>
              <a:gdLst/>
              <a:ahLst/>
              <a:cxnLst/>
              <a:rect r="r" b="b" t="t" l="l"/>
              <a:pathLst>
                <a:path h="877824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18" r="0" b="-44718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42672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obje</a:t>
              </a: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ct/string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372600" y="4228823"/>
            <a:ext cx="4480560" cy="693502"/>
            <a:chOff x="0" y="0"/>
            <a:chExt cx="5974080" cy="924669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974080" cy="924669"/>
            </a:xfrm>
            <a:custGeom>
              <a:avLst/>
              <a:gdLst/>
              <a:ahLst/>
              <a:cxnLst/>
              <a:rect r="r" b="b" t="t" l="l"/>
              <a:pathLst>
                <a:path h="924669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924669"/>
                  </a:lnTo>
                  <a:lnTo>
                    <a:pt x="0" y="9246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21" r="0" b="-7335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5974080" cy="953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Normalización de texto (.str.lower().str.strip()) y homo</a:t>
              </a:r>
              <a:r>
                <a:rPr lang="en-US" sz="1399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logación de etiquetas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4081760" y="4303540"/>
            <a:ext cx="3383280" cy="658368"/>
            <a:chOff x="0" y="0"/>
            <a:chExt cx="4511040" cy="87782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511040" cy="877824"/>
            </a:xfrm>
            <a:custGeom>
              <a:avLst/>
              <a:gdLst/>
              <a:ahLst/>
              <a:cxnLst/>
              <a:rect r="r" b="b" t="t" l="l"/>
              <a:pathLst>
                <a:path h="877824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131" r="0" b="-50131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451104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México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365760" y="4917948"/>
            <a:ext cx="1737360" cy="658368"/>
            <a:chOff x="0" y="0"/>
            <a:chExt cx="2316480" cy="87782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316480" cy="877824"/>
            </a:xfrm>
            <a:custGeom>
              <a:avLst/>
              <a:gdLst/>
              <a:ahLst/>
              <a:cxnLst/>
              <a:rect r="r" b="b" t="t" l="l"/>
              <a:pathLst>
                <a:path h="877824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8" r="0" b="-1418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231648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monto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2286000" y="4871466"/>
            <a:ext cx="3931920" cy="658368"/>
            <a:chOff x="0" y="0"/>
            <a:chExt cx="5242560" cy="87782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242560" cy="877824"/>
            </a:xfrm>
            <a:custGeom>
              <a:avLst/>
              <a:gdLst/>
              <a:ahLst/>
              <a:cxnLst/>
              <a:rect r="r" b="b" t="t" l="l"/>
              <a:pathLst>
                <a:path h="877824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368" r="0" b="-66368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52425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float / int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6172200" y="4871466"/>
            <a:ext cx="3200400" cy="658368"/>
            <a:chOff x="0" y="0"/>
            <a:chExt cx="4267200" cy="87782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267200" cy="877824"/>
            </a:xfrm>
            <a:custGeom>
              <a:avLst/>
              <a:gdLst/>
              <a:ahLst/>
              <a:cxnLst/>
              <a:rect r="r" b="b" t="t" l="l"/>
              <a:pathLst>
                <a:path h="877824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18" r="0" b="-44718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42672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float64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372600" y="4917948"/>
            <a:ext cx="4480560" cy="658368"/>
            <a:chOff x="0" y="0"/>
            <a:chExt cx="5974080" cy="87782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974080" cy="877824"/>
            </a:xfrm>
            <a:custGeom>
              <a:avLst/>
              <a:gdLst/>
              <a:ahLst/>
              <a:cxnLst/>
              <a:rect r="r" b="b" t="t" l="l"/>
              <a:pathLst>
                <a:path h="877824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606" r="0" b="-82606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28575"/>
              <a:ext cx="5974080" cy="9063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Inclu</a:t>
              </a:r>
              <a:r>
                <a:rPr lang="en-US" sz="1399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ido en escalado MinMaxScaler() para el set de 20 variables de PCA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4081760" y="4776125"/>
            <a:ext cx="3383280" cy="658368"/>
            <a:chOff x="0" y="0"/>
            <a:chExt cx="4511040" cy="87782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511040" cy="877824"/>
            </a:xfrm>
            <a:custGeom>
              <a:avLst/>
              <a:gdLst/>
              <a:ahLst/>
              <a:cxnLst/>
              <a:rect r="r" b="b" t="t" l="l"/>
              <a:pathLst>
                <a:path h="877824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131" r="0" b="-50131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451104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1450.00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365760" y="5358384"/>
            <a:ext cx="1737360" cy="658368"/>
            <a:chOff x="0" y="0"/>
            <a:chExt cx="2316480" cy="877824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316480" cy="877824"/>
            </a:xfrm>
            <a:custGeom>
              <a:avLst/>
              <a:gdLst/>
              <a:ahLst/>
              <a:cxnLst/>
              <a:rect r="r" b="b" t="t" l="l"/>
              <a:pathLst>
                <a:path h="877824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8" r="0" b="-1418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231648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puntos_lealtad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2268855" y="5424968"/>
            <a:ext cx="3931920" cy="658368"/>
            <a:chOff x="0" y="0"/>
            <a:chExt cx="5242560" cy="87782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242560" cy="877824"/>
            </a:xfrm>
            <a:custGeom>
              <a:avLst/>
              <a:gdLst/>
              <a:ahLst/>
              <a:cxnLst/>
              <a:rect r="r" b="b" t="t" l="l"/>
              <a:pathLst>
                <a:path h="877824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368" r="0" b="-66368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52425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6172200" y="5424968"/>
            <a:ext cx="3200400" cy="658368"/>
            <a:chOff x="0" y="0"/>
            <a:chExt cx="4267200" cy="877824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267200" cy="877824"/>
            </a:xfrm>
            <a:custGeom>
              <a:avLst/>
              <a:gdLst/>
              <a:ahLst/>
              <a:cxnLst/>
              <a:rect r="r" b="b" t="t" l="l"/>
              <a:pathLst>
                <a:path h="877824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18" r="0" b="-44718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42672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float64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9372600" y="5434493"/>
            <a:ext cx="4480560" cy="658368"/>
            <a:chOff x="0" y="0"/>
            <a:chExt cx="5974080" cy="877824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5974080" cy="877824"/>
            </a:xfrm>
            <a:custGeom>
              <a:avLst/>
              <a:gdLst/>
              <a:ahLst/>
              <a:cxnLst/>
              <a:rect r="r" b="b" t="t" l="l"/>
              <a:pathLst>
                <a:path h="877824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606" r="0" b="-82606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28575"/>
              <a:ext cx="5974080" cy="9063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Escalado </a:t>
              </a:r>
              <a:r>
                <a:rPr lang="en-US" sz="1399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Min-Max → [0,1]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4081760" y="5434493"/>
            <a:ext cx="3383280" cy="658368"/>
            <a:chOff x="0" y="0"/>
            <a:chExt cx="4511040" cy="877824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511040" cy="877824"/>
            </a:xfrm>
            <a:custGeom>
              <a:avLst/>
              <a:gdLst/>
              <a:ahLst/>
              <a:cxnLst/>
              <a:rect r="r" b="b" t="t" l="l"/>
              <a:pathLst>
                <a:path h="877824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131" r="0" b="-50131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451104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0.72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365760" y="6016752"/>
            <a:ext cx="1737360" cy="658368"/>
            <a:chOff x="0" y="0"/>
            <a:chExt cx="2316480" cy="877824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316480" cy="877824"/>
            </a:xfrm>
            <a:custGeom>
              <a:avLst/>
              <a:gdLst/>
              <a:ahLst/>
              <a:cxnLst/>
              <a:rect r="r" b="b" t="t" l="l"/>
              <a:pathLst>
                <a:path h="877824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8" r="0" b="-1418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231648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gastos_mensuales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2286000" y="6016752"/>
            <a:ext cx="3931920" cy="658368"/>
            <a:chOff x="0" y="0"/>
            <a:chExt cx="5242560" cy="877824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242560" cy="877824"/>
            </a:xfrm>
            <a:custGeom>
              <a:avLst/>
              <a:gdLst/>
              <a:ahLst/>
              <a:cxnLst/>
              <a:rect r="r" b="b" t="t" l="l"/>
              <a:pathLst>
                <a:path h="877824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368" r="0" b="-66368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52425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float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6172200" y="6029325"/>
            <a:ext cx="3200400" cy="658368"/>
            <a:chOff x="0" y="0"/>
            <a:chExt cx="4267200" cy="877824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4267200" cy="877824"/>
            </a:xfrm>
            <a:custGeom>
              <a:avLst/>
              <a:gdLst/>
              <a:ahLst/>
              <a:cxnLst/>
              <a:rect r="r" b="b" t="t" l="l"/>
              <a:pathLst>
                <a:path h="877824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18" r="0" b="-44718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42672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float64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9372600" y="6016752"/>
            <a:ext cx="4480560" cy="658368"/>
            <a:chOff x="0" y="0"/>
            <a:chExt cx="5974080" cy="877824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5974080" cy="877824"/>
            </a:xfrm>
            <a:custGeom>
              <a:avLst/>
              <a:gdLst/>
              <a:ahLst/>
              <a:cxnLst/>
              <a:rect r="r" b="b" t="t" l="l"/>
              <a:pathLst>
                <a:path h="877824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606" r="0" b="-82606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28575"/>
              <a:ext cx="5974080" cy="9063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E</a:t>
              </a:r>
              <a:r>
                <a:rPr lang="en-US" sz="1399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scalado Min-Max → [0,1]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4081760" y="6016752"/>
            <a:ext cx="3383280" cy="658368"/>
            <a:chOff x="0" y="0"/>
            <a:chExt cx="4511040" cy="877824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4511040" cy="877824"/>
            </a:xfrm>
            <a:custGeom>
              <a:avLst/>
              <a:gdLst/>
              <a:ahLst/>
              <a:cxnLst/>
              <a:rect r="r" b="b" t="t" l="l"/>
              <a:pathLst>
                <a:path h="877824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131" r="0" b="-50131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451104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0.34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365760" y="6675120"/>
            <a:ext cx="17556480" cy="3525469"/>
            <a:chOff x="0" y="0"/>
            <a:chExt cx="23408640" cy="4700625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3408639" cy="4700625"/>
            </a:xfrm>
            <a:custGeom>
              <a:avLst/>
              <a:gdLst/>
              <a:ahLst/>
              <a:cxnLst/>
              <a:rect r="r" b="b" t="t" l="l"/>
              <a:pathLst>
                <a:path h="4700625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4700625"/>
                  </a:lnTo>
                  <a:lnTo>
                    <a:pt x="0" y="4700625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365760" y="6531011"/>
            <a:ext cx="17556480" cy="237744"/>
            <a:chOff x="0" y="0"/>
            <a:chExt cx="23408640" cy="316992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3408639" cy="316992"/>
            </a:xfrm>
            <a:custGeom>
              <a:avLst/>
              <a:gdLst/>
              <a:ahLst/>
              <a:cxnLst/>
              <a:rect r="r" b="b" t="t" l="l"/>
              <a:pathLst>
                <a:path h="316992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316992"/>
                  </a:lnTo>
                  <a:lnTo>
                    <a:pt x="0" y="316992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sp>
        <p:nvSpPr>
          <p:cNvPr name="TextBox 121" id="121"/>
          <p:cNvSpPr txBox="true"/>
          <p:nvPr/>
        </p:nvSpPr>
        <p:spPr>
          <a:xfrm rot="0">
            <a:off x="731520" y="6749705"/>
            <a:ext cx="4802099" cy="3503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6"/>
              </a:lnSpc>
            </a:pPr>
            <a:r>
              <a:rPr lang="en-US" sz="88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# 1. Homologación de texto en variables categóricas (De: limpieza_datos.py)</a:t>
            </a:r>
          </a:p>
          <a:p>
            <a:pPr algn="l">
              <a:lnSpc>
                <a:spcPts val="1056"/>
              </a:lnSpc>
            </a:pPr>
            <a:r>
              <a:rPr lang="en-US" sz="88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df_usuarios['geolocalizacion'] = df_usuarios['geolocalizacion'].str.lower().str.strip()</a:t>
            </a:r>
          </a:p>
          <a:p>
            <a:pPr algn="l">
              <a:lnSpc>
                <a:spcPts val="1056"/>
              </a:lnSpc>
            </a:pPr>
            <a:r>
              <a:rPr lang="en-US" sz="88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df_usuarios['geolocalizacion'] = df_usuarios['geolocalizacion'].replace(['mex', 'mx', 'mexico'], 'México')</a:t>
            </a:r>
          </a:p>
          <a:p>
            <a:pPr algn="l">
              <a:lnSpc>
                <a:spcPts val="1056"/>
              </a:lnSpc>
            </a:pPr>
          </a:p>
          <a:p>
            <a:pPr algn="l">
              <a:lnSpc>
                <a:spcPts val="1056"/>
              </a:lnSpc>
            </a:pPr>
            <a:r>
              <a:rPr lang="en-US" sz="88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# 2. Conversión lógica a tipos de datos DateTime (De: analitica_visualizacion.py)</a:t>
            </a:r>
          </a:p>
          <a:p>
            <a:pPr algn="l">
              <a:lnSpc>
                <a:spcPts val="1056"/>
              </a:lnSpc>
            </a:pPr>
            <a:r>
              <a:rPr lang="en-US" sz="88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de</a:t>
            </a:r>
            <a:r>
              <a:rPr lang="en-US" sz="88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f convertir_fecha(fecha):</a:t>
            </a:r>
          </a:p>
          <a:p>
            <a:pPr algn="l">
              <a:lnSpc>
                <a:spcPts val="1056"/>
              </a:lnSpc>
            </a:pPr>
            <a:r>
              <a:rPr lang="en-US" sz="88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try:</a:t>
            </a:r>
          </a:p>
          <a:p>
            <a:pPr algn="l">
              <a:lnSpc>
                <a:spcPts val="1056"/>
              </a:lnSpc>
            </a:pPr>
            <a:r>
              <a:rPr lang="en-US" sz="88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    return pd.to_datetime(fecha, dayfirst=True)</a:t>
            </a:r>
          </a:p>
          <a:p>
            <a:pPr algn="l">
              <a:lnSpc>
                <a:spcPts val="1056"/>
              </a:lnSpc>
            </a:pPr>
            <a:r>
              <a:rPr lang="en-US" sz="88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except:</a:t>
            </a:r>
          </a:p>
          <a:p>
            <a:pPr algn="l">
              <a:lnSpc>
                <a:spcPts val="1056"/>
              </a:lnSpc>
            </a:pPr>
            <a:r>
              <a:rPr lang="en-US" sz="88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    try:</a:t>
            </a:r>
          </a:p>
          <a:p>
            <a:pPr algn="l">
              <a:lnSpc>
                <a:spcPts val="1056"/>
              </a:lnSpc>
            </a:pPr>
            <a:r>
              <a:rPr lang="en-US" sz="88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        return pd.to_datetime(fecha)</a:t>
            </a:r>
          </a:p>
          <a:p>
            <a:pPr algn="l">
              <a:lnSpc>
                <a:spcPts val="1056"/>
              </a:lnSpc>
            </a:pPr>
            <a:r>
              <a:rPr lang="en-US" sz="88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    except:</a:t>
            </a:r>
          </a:p>
          <a:p>
            <a:pPr algn="l">
              <a:lnSpc>
                <a:spcPts val="1056"/>
              </a:lnSpc>
            </a:pPr>
            <a:r>
              <a:rPr lang="en-US" sz="88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        return pd.to_datetime(pd.NaT)</a:t>
            </a:r>
          </a:p>
          <a:p>
            <a:pPr algn="l">
              <a:lnSpc>
                <a:spcPts val="1056"/>
              </a:lnSpc>
            </a:pPr>
            <a:r>
              <a:rPr lang="en-US" sz="88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df["fecha"] = df["fecha"].apply(convertir_fecha)</a:t>
            </a:r>
          </a:p>
          <a:p>
            <a:pPr algn="l">
              <a:lnSpc>
                <a:spcPts val="1056"/>
              </a:lnSpc>
            </a:pPr>
            <a:r>
              <a:rPr lang="en-US" sz="88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# 3. Mapeo del Diccionario de Variables para el Modelo (De: analitica_visualizacion.py)</a:t>
            </a:r>
          </a:p>
          <a:p>
            <a:pPr algn="l">
              <a:lnSpc>
                <a:spcPts val="1056"/>
              </a:lnSpc>
            </a:pPr>
            <a:r>
              <a:rPr lang="en-US" sz="88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variables_pca = [</a:t>
            </a:r>
          </a:p>
          <a:p>
            <a:pPr algn="l">
              <a:lnSpc>
                <a:spcPts val="1056"/>
              </a:lnSpc>
            </a:pPr>
            <a:r>
              <a:rPr lang="en-US" sz="88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"monto", "edad", "ingresos", "gastos_mensuales", "puntos_lealtad",</a:t>
            </a:r>
          </a:p>
          <a:p>
            <a:pPr algn="l">
              <a:lnSpc>
                <a:spcPts val="1056"/>
              </a:lnSpc>
            </a:pPr>
            <a:r>
              <a:rPr lang="en-US" sz="88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"r</a:t>
            </a:r>
            <a:r>
              <a:rPr lang="en-US" sz="88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atio_gasto_ingreso", "monto_por_edad", "nivel_lealtad",</a:t>
            </a:r>
          </a:p>
          <a:p>
            <a:pPr algn="l">
              <a:lnSpc>
                <a:spcPts val="1056"/>
              </a:lnSpc>
            </a:pPr>
            <a:r>
              <a:rPr lang="en-US" sz="88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"ingreso_anual_estimado", "ahorro_estimado", "indice_consumo",</a:t>
            </a:r>
          </a:p>
          <a:p>
            <a:pPr algn="l">
              <a:lnSpc>
                <a:spcPts val="1056"/>
              </a:lnSpc>
            </a:pPr>
            <a:r>
              <a:rPr lang="en-US" sz="88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"score_financiero", "comportamiento_1", "comportamiento_2",</a:t>
            </a:r>
          </a:p>
          <a:p>
            <a:pPr algn="l">
              <a:lnSpc>
                <a:spcPts val="1056"/>
              </a:lnSpc>
            </a:pPr>
            <a:r>
              <a:rPr lang="en-US" sz="88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"comportamiento_3", "comportamiento_4", "comportamiento_5",</a:t>
            </a:r>
          </a:p>
          <a:p>
            <a:pPr algn="l">
              <a:lnSpc>
                <a:spcPts val="1056"/>
              </a:lnSpc>
            </a:pPr>
            <a:r>
              <a:rPr lang="en-US" sz="88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"comportamiento_6", "comportamiento_7", "comportamiento_8"</a:t>
            </a:r>
          </a:p>
          <a:p>
            <a:pPr algn="l">
              <a:lnSpc>
                <a:spcPts val="1056"/>
              </a:lnSpc>
            </a:pPr>
          </a:p>
        </p:txBody>
      </p:sp>
      <p:grpSp>
        <p:nvGrpSpPr>
          <p:cNvPr name="Group 122" id="122"/>
          <p:cNvGrpSpPr/>
          <p:nvPr/>
        </p:nvGrpSpPr>
        <p:grpSpPr>
          <a:xfrm rot="0">
            <a:off x="365760" y="2534412"/>
            <a:ext cx="1737360" cy="658368"/>
            <a:chOff x="0" y="0"/>
            <a:chExt cx="2316480" cy="877824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316480" cy="877824"/>
            </a:xfrm>
            <a:custGeom>
              <a:avLst/>
              <a:gdLst/>
              <a:ahLst/>
              <a:cxnLst/>
              <a:rect r="r" b="b" t="t" l="l"/>
              <a:pathLst>
                <a:path h="877824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8" r="0" b="-1418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231648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id_transaccion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2240280" y="2534412"/>
            <a:ext cx="3931920" cy="658368"/>
            <a:chOff x="0" y="0"/>
            <a:chExt cx="5242560" cy="877824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5242560" cy="877824"/>
            </a:xfrm>
            <a:custGeom>
              <a:avLst/>
              <a:gdLst/>
              <a:ahLst/>
              <a:cxnLst/>
              <a:rect r="r" b="b" t="t" l="l"/>
              <a:pathLst>
                <a:path h="877824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368" r="0" b="-66368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52425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objec</a:t>
              </a: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 (string)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6172200" y="3111772"/>
            <a:ext cx="3200400" cy="658368"/>
            <a:chOff x="0" y="0"/>
            <a:chExt cx="4267200" cy="877824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4267200" cy="877824"/>
            </a:xfrm>
            <a:custGeom>
              <a:avLst/>
              <a:gdLst/>
              <a:ahLst/>
              <a:cxnLst/>
              <a:rect r="r" b="b" t="t" l="l"/>
              <a:pathLst>
                <a:path h="877824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18" r="0" b="-44718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42672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object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9372600" y="3600477"/>
            <a:ext cx="4480560" cy="658368"/>
            <a:chOff x="0" y="0"/>
            <a:chExt cx="5974080" cy="877824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5974080" cy="877824"/>
            </a:xfrm>
            <a:custGeom>
              <a:avLst/>
              <a:gdLst/>
              <a:ahLst/>
              <a:cxnLst/>
              <a:rect r="r" b="b" t="t" l="l"/>
              <a:pathLst>
                <a:path h="877824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606" r="0" b="-82606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28575"/>
              <a:ext cx="5974080" cy="9063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Función personalizada convertir_fecha() (dayfirst=Tru</a:t>
              </a:r>
              <a:r>
                <a:rPr lang="en-US" sz="1399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e)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4081760" y="3111772"/>
            <a:ext cx="3383280" cy="658368"/>
            <a:chOff x="0" y="0"/>
            <a:chExt cx="4511040" cy="877824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4511040" cy="877824"/>
            </a:xfrm>
            <a:custGeom>
              <a:avLst/>
              <a:gdLst/>
              <a:ahLst/>
              <a:cxnLst/>
              <a:rect r="r" b="b" t="t" l="l"/>
              <a:pathLst>
                <a:path h="877824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131" r="0" b="-50131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451104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C_4</a:t>
              </a: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002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28800"/>
            <a:chOff x="0" y="0"/>
            <a:chExt cx="2438400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46304"/>
            <a:ext cx="16459200" cy="1024128"/>
            <a:chOff x="0" y="0"/>
            <a:chExt cx="21945600" cy="13655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365504"/>
            </a:xfrm>
            <a:custGeom>
              <a:avLst/>
              <a:gdLst/>
              <a:ahLst/>
              <a:cxnLst/>
              <a:rect r="r" b="b" t="t" l="l"/>
              <a:pathLst>
                <a:path h="13655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1945600" cy="144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ETL — Fase 1: Limpieza y Normalización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31520" y="1132332"/>
            <a:ext cx="164592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EA5E9"/>
                </a:solidFill>
                <a:latin typeface="Calibri (MS)"/>
                <a:ea typeface="Calibri (MS)"/>
                <a:cs typeface="Calibri (MS)"/>
                <a:sym typeface="Calibri (MS)"/>
              </a:rPr>
              <a:t>Nulos, duplicados y escalado numérico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65760" y="2011680"/>
            <a:ext cx="3291840" cy="512064"/>
            <a:chOff x="0" y="0"/>
            <a:chExt cx="438912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4047744" y="0"/>
                  </a:lnTo>
                  <a:cubicBezTo>
                    <a:pt x="4236339" y="0"/>
                    <a:pt x="4389120" y="152781"/>
                    <a:pt x="4389120" y="341376"/>
                  </a:cubicBezTo>
                  <a:cubicBezTo>
                    <a:pt x="4389120" y="529971"/>
                    <a:pt x="4236339" y="682752"/>
                    <a:pt x="4047744" y="682752"/>
                  </a:cubicBezTo>
                  <a:lnTo>
                    <a:pt x="341376" y="682752"/>
                  </a:ln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0EA5E9">
                <a:alpha val="72157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65760" y="2011680"/>
            <a:ext cx="3291840" cy="512064"/>
            <a:chOff x="0" y="0"/>
            <a:chExt cx="4389120" cy="6827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438912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b="true" sz="1399" spc="3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PASO 1 DE 5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65760" y="2651760"/>
            <a:ext cx="694944" cy="694944"/>
            <a:chOff x="0" y="0"/>
            <a:chExt cx="926592" cy="9265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65760" y="2651760"/>
            <a:ext cx="694944" cy="694944"/>
            <a:chOff x="0" y="0"/>
            <a:chExt cx="926592" cy="9265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926592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88720" y="2651760"/>
            <a:ext cx="6217920" cy="402336"/>
            <a:chOff x="0" y="0"/>
            <a:chExt cx="8290560" cy="5364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290560" cy="536448"/>
            </a:xfrm>
            <a:custGeom>
              <a:avLst/>
              <a:gdLst/>
              <a:ahLst/>
              <a:cxnLst/>
              <a:rect r="r" b="b" t="t" l="l"/>
              <a:pathLst>
                <a:path h="536448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132" r="0" b="-25113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29056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Detectar nulos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88720" y="3054096"/>
            <a:ext cx="6217920" cy="526684"/>
            <a:chOff x="0" y="0"/>
            <a:chExt cx="8290560" cy="70224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290560" cy="702246"/>
            </a:xfrm>
            <a:custGeom>
              <a:avLst/>
              <a:gdLst/>
              <a:ahLst/>
              <a:cxnLst/>
              <a:rect r="r" b="b" t="t" l="l"/>
              <a:pathLst>
                <a:path h="702246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702246"/>
                  </a:lnTo>
                  <a:lnTo>
                    <a:pt x="0" y="7022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313" r="0" b="-16475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290560" cy="7403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Ident</a:t>
              </a:r>
              <a:r>
                <a:rPr lang="en-US" sz="1500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ificación de inconsistencias estructurales en las fechas mediante la lectura de registros en formato string.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65760" y="4261104"/>
            <a:ext cx="694944" cy="694944"/>
            <a:chOff x="0" y="0"/>
            <a:chExt cx="926592" cy="9265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65760" y="4261104"/>
            <a:ext cx="694944" cy="694944"/>
            <a:chOff x="0" y="0"/>
            <a:chExt cx="926592" cy="9265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26592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88720" y="4261104"/>
            <a:ext cx="6217920" cy="402336"/>
            <a:chOff x="0" y="0"/>
            <a:chExt cx="8290560" cy="5364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290560" cy="536448"/>
            </a:xfrm>
            <a:custGeom>
              <a:avLst/>
              <a:gdLst/>
              <a:ahLst/>
              <a:cxnLst/>
              <a:rect r="r" b="b" t="t" l="l"/>
              <a:pathLst>
                <a:path h="536448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132" r="0" b="-25113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829056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</a:t>
              </a:r>
              <a:r>
                <a:rPr lang="en-US" sz="20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tamiento de nulos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88720" y="4663440"/>
            <a:ext cx="6217920" cy="526684"/>
            <a:chOff x="0" y="0"/>
            <a:chExt cx="8290560" cy="70224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290560" cy="702246"/>
            </a:xfrm>
            <a:custGeom>
              <a:avLst/>
              <a:gdLst/>
              <a:ahLst/>
              <a:cxnLst/>
              <a:rect r="r" b="b" t="t" l="l"/>
              <a:pathLst>
                <a:path h="702246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702246"/>
                  </a:lnTo>
                  <a:lnTo>
                    <a:pt x="0" y="7022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313" r="0" b="-16475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8290560" cy="7403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Remoc</a:t>
              </a:r>
              <a:r>
                <a:rPr lang="en-US" sz="1500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ión estricta con .dropna(subset=["fecha"]) para evitar desfases cronológicos en las series de tiempo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65760" y="5870448"/>
            <a:ext cx="694944" cy="694944"/>
            <a:chOff x="0" y="0"/>
            <a:chExt cx="926592" cy="9265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365760" y="5870448"/>
            <a:ext cx="694944" cy="694944"/>
            <a:chOff x="0" y="0"/>
            <a:chExt cx="926592" cy="9265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926592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88720" y="5870448"/>
            <a:ext cx="6217920" cy="402336"/>
            <a:chOff x="0" y="0"/>
            <a:chExt cx="8290560" cy="53644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290560" cy="536448"/>
            </a:xfrm>
            <a:custGeom>
              <a:avLst/>
              <a:gdLst/>
              <a:ahLst/>
              <a:cxnLst/>
              <a:rect r="r" b="b" t="t" l="l"/>
              <a:pathLst>
                <a:path h="536448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132" r="0" b="-25113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829056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Validación de</a:t>
              </a:r>
              <a:r>
                <a:rPr lang="en-US" sz="20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duplicados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88720" y="6272784"/>
            <a:ext cx="6217920" cy="755284"/>
            <a:chOff x="0" y="0"/>
            <a:chExt cx="8290560" cy="100704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290560" cy="1007046"/>
            </a:xfrm>
            <a:custGeom>
              <a:avLst/>
              <a:gdLst/>
              <a:ahLst/>
              <a:cxnLst/>
              <a:rect r="r" b="b" t="t" l="l"/>
              <a:pathLst>
                <a:path h="1007046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007046"/>
                  </a:lnTo>
                  <a:lnTo>
                    <a:pt x="0" y="1007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198" r="0" b="-8462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8290560" cy="1045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Segundo filtro</a:t>
              </a:r>
              <a:r>
                <a:rPr lang="en-US" sz="1500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 de redundancia en filas para asegurar la integridad de los datos antes de computar las 20 variables del modelo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365760" y="7299127"/>
            <a:ext cx="694944" cy="694944"/>
            <a:chOff x="0" y="0"/>
            <a:chExt cx="926592" cy="92659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365760" y="7299127"/>
            <a:ext cx="694944" cy="694944"/>
            <a:chOff x="0" y="0"/>
            <a:chExt cx="926592" cy="9265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926592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88720" y="7299127"/>
            <a:ext cx="6217920" cy="402336"/>
            <a:chOff x="0" y="0"/>
            <a:chExt cx="8290560" cy="53644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290560" cy="536448"/>
            </a:xfrm>
            <a:custGeom>
              <a:avLst/>
              <a:gdLst/>
              <a:ahLst/>
              <a:cxnLst/>
              <a:rect r="r" b="b" t="t" l="l"/>
              <a:pathLst>
                <a:path h="536448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132" r="0" b="-25113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829056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Estandarizac</a:t>
              </a:r>
              <a:r>
                <a:rPr lang="en-US" sz="20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ión temporal 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88720" y="7669078"/>
            <a:ext cx="6217920" cy="755284"/>
            <a:chOff x="0" y="0"/>
            <a:chExt cx="8290560" cy="100704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290560" cy="1007046"/>
            </a:xfrm>
            <a:custGeom>
              <a:avLst/>
              <a:gdLst/>
              <a:ahLst/>
              <a:cxnLst/>
              <a:rect r="r" b="b" t="t" l="l"/>
              <a:pathLst>
                <a:path h="1007046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007046"/>
                  </a:lnTo>
                  <a:lnTo>
                    <a:pt x="0" y="1007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198" r="0" b="-8462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8290560" cy="1045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M</a:t>
              </a:r>
              <a:r>
                <a:rPr lang="en-US" sz="1500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apeo con la función lógica convertir_fecha() para unificar formatos mixtos (DD/MM/YYYY y YYYY-MM-DD) en objetos datetime64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863840" y="2011680"/>
            <a:ext cx="10058400" cy="6035040"/>
            <a:chOff x="0" y="0"/>
            <a:chExt cx="13411200" cy="80467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3411200" cy="8046720"/>
            </a:xfrm>
            <a:custGeom>
              <a:avLst/>
              <a:gdLst/>
              <a:ahLst/>
              <a:cxnLst/>
              <a:rect r="r" b="b" t="t" l="l"/>
              <a:pathLst>
                <a:path h="80467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8046720"/>
                  </a:lnTo>
                  <a:lnTo>
                    <a:pt x="0" y="8046720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7863840" y="2011680"/>
            <a:ext cx="10058400" cy="237744"/>
            <a:chOff x="0" y="0"/>
            <a:chExt cx="13411200" cy="3169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3411200" cy="316992"/>
            </a:xfrm>
            <a:custGeom>
              <a:avLst/>
              <a:gdLst/>
              <a:ahLst/>
              <a:cxnLst/>
              <a:rect r="r" b="b" t="t" l="l"/>
              <a:pathLst>
                <a:path h="316992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316992"/>
                  </a:lnTo>
                  <a:lnTo>
                    <a:pt x="0" y="316992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7988346" y="2765626"/>
            <a:ext cx="10553419" cy="4895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3"/>
              </a:lnSpc>
            </a:pPr>
            <a:r>
              <a:rPr lang="en-US" sz="1677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# ===analitica_visualizacion.py===</a:t>
            </a:r>
          </a:p>
          <a:p>
            <a:pPr algn="l">
              <a:lnSpc>
                <a:spcPts val="2013"/>
              </a:lnSpc>
            </a:pPr>
            <a:r>
              <a:rPr lang="en-US" sz="1677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print("\nLimpiando datos adicionales")</a:t>
            </a:r>
          </a:p>
          <a:p>
            <a:pPr algn="l">
              <a:lnSpc>
                <a:spcPts val="2013"/>
              </a:lnSpc>
            </a:pPr>
            <a:r>
              <a:rPr lang="en-US" sz="1677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# Eliminar duplicados</a:t>
            </a:r>
          </a:p>
          <a:p>
            <a:pPr algn="l">
              <a:lnSpc>
                <a:spcPts val="2013"/>
              </a:lnSpc>
            </a:pPr>
            <a:r>
              <a:rPr lang="en-US" sz="1677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antes = len(df)</a:t>
            </a:r>
          </a:p>
          <a:p>
            <a:pPr algn="l">
              <a:lnSpc>
                <a:spcPts val="2013"/>
              </a:lnSpc>
            </a:pPr>
            <a:r>
              <a:rPr lang="en-US" sz="1677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df = df.drop_duplicates()</a:t>
            </a:r>
          </a:p>
          <a:p>
            <a:pPr algn="l">
              <a:lnSpc>
                <a:spcPts val="2013"/>
              </a:lnSpc>
            </a:pPr>
            <a:r>
              <a:rPr lang="en-US" sz="1677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despues = len(df)</a:t>
            </a:r>
          </a:p>
          <a:p>
            <a:pPr algn="l">
              <a:lnSpc>
                <a:spcPts val="2013"/>
              </a:lnSpc>
            </a:pPr>
            <a:r>
              <a:rPr lang="en-US" sz="1677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print(f"Duplicados eliminados: {antes - despues}")</a:t>
            </a:r>
          </a:p>
          <a:p>
            <a:pPr algn="l">
              <a:lnSpc>
                <a:spcPts val="2013"/>
              </a:lnSpc>
            </a:pPr>
          </a:p>
          <a:p>
            <a:pPr algn="l">
              <a:lnSpc>
                <a:spcPts val="2013"/>
              </a:lnSpc>
            </a:pPr>
            <a:r>
              <a:rPr lang="en-US" sz="1677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def convertir_fecha(fecha):</a:t>
            </a:r>
          </a:p>
          <a:p>
            <a:pPr algn="l">
              <a:lnSpc>
                <a:spcPts val="2013"/>
              </a:lnSpc>
            </a:pPr>
            <a:r>
              <a:rPr lang="en-US" sz="1677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    try:</a:t>
            </a:r>
          </a:p>
          <a:p>
            <a:pPr algn="l">
              <a:lnSpc>
                <a:spcPts val="2013"/>
              </a:lnSpc>
            </a:pPr>
            <a:r>
              <a:rPr lang="en-US" sz="1677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        return pd.to_datetime(fecha, dayfirst=True)</a:t>
            </a:r>
          </a:p>
          <a:p>
            <a:pPr algn="l">
              <a:lnSpc>
                <a:spcPts val="2013"/>
              </a:lnSpc>
            </a:pPr>
            <a:r>
              <a:rPr lang="en-US" sz="1677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    except:</a:t>
            </a:r>
          </a:p>
          <a:p>
            <a:pPr algn="l">
              <a:lnSpc>
                <a:spcPts val="2013"/>
              </a:lnSpc>
            </a:pPr>
            <a:r>
              <a:rPr lang="en-US" sz="1677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        try:</a:t>
            </a:r>
          </a:p>
          <a:p>
            <a:pPr algn="l">
              <a:lnSpc>
                <a:spcPts val="2013"/>
              </a:lnSpc>
            </a:pPr>
            <a:r>
              <a:rPr lang="en-US" sz="1677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            return pd.to_datetime(fecha)</a:t>
            </a:r>
          </a:p>
          <a:p>
            <a:pPr algn="l">
              <a:lnSpc>
                <a:spcPts val="2013"/>
              </a:lnSpc>
            </a:pPr>
            <a:r>
              <a:rPr lang="en-US" sz="1677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        except:</a:t>
            </a:r>
          </a:p>
          <a:p>
            <a:pPr algn="l">
              <a:lnSpc>
                <a:spcPts val="2013"/>
              </a:lnSpc>
            </a:pPr>
            <a:r>
              <a:rPr lang="en-US" sz="1677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            return pd.to_datetime(pd.NaT)</a:t>
            </a:r>
          </a:p>
          <a:p>
            <a:pPr algn="l">
              <a:lnSpc>
                <a:spcPts val="2013"/>
              </a:lnSpc>
            </a:pPr>
          </a:p>
          <a:p>
            <a:pPr algn="l">
              <a:lnSpc>
                <a:spcPts val="2013"/>
              </a:lnSpc>
            </a:pPr>
            <a:r>
              <a:rPr lang="en-US" sz="1677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df["fecha"] = df["fecha"].apply(convertir_fecha)</a:t>
            </a:r>
          </a:p>
          <a:p>
            <a:pPr algn="l">
              <a:lnSpc>
                <a:spcPts val="2013"/>
              </a:lnSpc>
            </a:pPr>
            <a:r>
              <a:rPr lang="en-US" sz="1677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df = df.dropna(subset=["fecha"])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5296662" y="8408479"/>
            <a:ext cx="4023360" cy="2194560"/>
            <a:chOff x="0" y="0"/>
            <a:chExt cx="5364480" cy="29260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3644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5296662" y="8408479"/>
            <a:ext cx="4023360" cy="128016"/>
            <a:chOff x="0" y="0"/>
            <a:chExt cx="5364480" cy="17068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364480" cy="170688"/>
            </a:xfrm>
            <a:custGeom>
              <a:avLst/>
              <a:gdLst/>
              <a:ahLst/>
              <a:cxnLst/>
              <a:rect r="r" b="b" t="t" l="l"/>
              <a:pathLst>
                <a:path h="17068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5296662" y="8591359"/>
            <a:ext cx="4023360" cy="1188720"/>
            <a:chOff x="0" y="0"/>
            <a:chExt cx="5364480" cy="15849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3644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14300"/>
              <a:ext cx="5364480" cy="1699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0EA5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342</a:t>
              </a: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5296662" y="9741979"/>
            <a:ext cx="4023360" cy="73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nulos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imputados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13898880" y="8357616"/>
            <a:ext cx="4023360" cy="2194560"/>
            <a:chOff x="0" y="0"/>
            <a:chExt cx="5364480" cy="29260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3644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3898880" y="8326374"/>
            <a:ext cx="4023360" cy="128016"/>
            <a:chOff x="0" y="0"/>
            <a:chExt cx="5364480" cy="17068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364480" cy="170688"/>
            </a:xfrm>
            <a:custGeom>
              <a:avLst/>
              <a:gdLst/>
              <a:ahLst/>
              <a:cxnLst/>
              <a:rect r="r" b="b" t="t" l="l"/>
              <a:pathLst>
                <a:path h="17068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3898880" y="8635365"/>
            <a:ext cx="4023360" cy="1188720"/>
            <a:chOff x="0" y="0"/>
            <a:chExt cx="5364480" cy="15849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3644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14300"/>
              <a:ext cx="5364480" cy="1699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0EA5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sz="5599" b="true">
                  <a:solidFill>
                    <a:srgbClr val="0EA5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8,000</a:t>
              </a: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13898880" y="9608820"/>
            <a:ext cx="402336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Filas finales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5296662" y="8408479"/>
            <a:ext cx="4023360" cy="2194560"/>
            <a:chOff x="0" y="0"/>
            <a:chExt cx="5364480" cy="29260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3644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5296662" y="8408479"/>
            <a:ext cx="4023360" cy="128016"/>
            <a:chOff x="0" y="0"/>
            <a:chExt cx="5364480" cy="17068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364480" cy="170688"/>
            </a:xfrm>
            <a:custGeom>
              <a:avLst/>
              <a:gdLst/>
              <a:ahLst/>
              <a:cxnLst/>
              <a:rect r="r" b="b" t="t" l="l"/>
              <a:pathLst>
                <a:path h="17068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5265039" y="8732520"/>
            <a:ext cx="4023360" cy="1188720"/>
            <a:chOff x="0" y="0"/>
            <a:chExt cx="5364480" cy="158496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3644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114300"/>
              <a:ext cx="5364480" cy="1699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0EA5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250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028700" y="8371713"/>
            <a:ext cx="4023360" cy="1915287"/>
            <a:chOff x="0" y="0"/>
            <a:chExt cx="5364480" cy="255371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364480" cy="2553716"/>
            </a:xfrm>
            <a:custGeom>
              <a:avLst/>
              <a:gdLst/>
              <a:ahLst/>
              <a:cxnLst/>
              <a:rect r="r" b="b" t="t" l="l"/>
              <a:pathLst>
                <a:path h="255371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553716"/>
                  </a:lnTo>
                  <a:lnTo>
                    <a:pt x="0" y="2553716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sp>
        <p:nvSpPr>
          <p:cNvPr name="TextBox 87" id="87"/>
          <p:cNvSpPr txBox="true"/>
          <p:nvPr/>
        </p:nvSpPr>
        <p:spPr>
          <a:xfrm rot="0">
            <a:off x="1060704" y="9715500"/>
            <a:ext cx="399135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Variables</a:t>
            </a:r>
          </a:p>
        </p:txBody>
      </p:sp>
      <p:grpSp>
        <p:nvGrpSpPr>
          <p:cNvPr name="Group 88" id="88"/>
          <p:cNvGrpSpPr/>
          <p:nvPr/>
        </p:nvGrpSpPr>
        <p:grpSpPr>
          <a:xfrm rot="0">
            <a:off x="1028700" y="8371713"/>
            <a:ext cx="4023360" cy="128016"/>
            <a:chOff x="0" y="0"/>
            <a:chExt cx="5364480" cy="17068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364480" cy="170688"/>
            </a:xfrm>
            <a:custGeom>
              <a:avLst/>
              <a:gdLst/>
              <a:ahLst/>
              <a:cxnLst/>
              <a:rect r="r" b="b" t="t" l="l"/>
              <a:pathLst>
                <a:path h="17068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028700" y="8662254"/>
            <a:ext cx="4023360" cy="1046931"/>
            <a:chOff x="0" y="0"/>
            <a:chExt cx="5364480" cy="1395909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364480" cy="1395909"/>
            </a:xfrm>
            <a:custGeom>
              <a:avLst/>
              <a:gdLst/>
              <a:ahLst/>
              <a:cxnLst/>
              <a:rect r="r" b="b" t="t" l="l"/>
              <a:pathLst>
                <a:path h="1395909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395909"/>
                  </a:lnTo>
                  <a:lnTo>
                    <a:pt x="0" y="13959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10" r="0" b="-18551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104775"/>
              <a:ext cx="5364480" cy="15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5296662" y="9505759"/>
            <a:ext cx="4023360" cy="640080"/>
            <a:chOff x="0" y="0"/>
            <a:chExt cx="5364480" cy="85344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Registros nulos removidos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9564624" y="8499729"/>
            <a:ext cx="4023360" cy="1828800"/>
            <a:chOff x="0" y="0"/>
            <a:chExt cx="5364480" cy="24384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53644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9564624" y="8371713"/>
            <a:ext cx="4023360" cy="128016"/>
            <a:chOff x="0" y="0"/>
            <a:chExt cx="5364480" cy="17068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364480" cy="170688"/>
            </a:xfrm>
            <a:custGeom>
              <a:avLst/>
              <a:gdLst/>
              <a:ahLst/>
              <a:cxnLst/>
              <a:rect r="r" b="b" t="t" l="l"/>
              <a:pathLst>
                <a:path h="17068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9597771" y="8728519"/>
            <a:ext cx="4023360" cy="1046931"/>
            <a:chOff x="0" y="0"/>
            <a:chExt cx="5364480" cy="1395909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364480" cy="1395909"/>
            </a:xfrm>
            <a:custGeom>
              <a:avLst/>
              <a:gdLst/>
              <a:ahLst/>
              <a:cxnLst/>
              <a:rect r="r" b="b" t="t" l="l"/>
              <a:pathLst>
                <a:path h="1395909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395909"/>
                  </a:lnTo>
                  <a:lnTo>
                    <a:pt x="0" y="13959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10" r="0" b="-18551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104775"/>
              <a:ext cx="5364480" cy="15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9564624" y="9560433"/>
            <a:ext cx="4023360" cy="640080"/>
            <a:chOff x="0" y="0"/>
            <a:chExt cx="5364480" cy="85344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Validación de integridad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28800"/>
            <a:chOff x="0" y="0"/>
            <a:chExt cx="2438400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46304"/>
            <a:ext cx="16459200" cy="1024128"/>
            <a:chOff x="0" y="0"/>
            <a:chExt cx="21945600" cy="13655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365504"/>
            </a:xfrm>
            <a:custGeom>
              <a:avLst/>
              <a:gdLst/>
              <a:ahLst/>
              <a:cxnLst/>
              <a:rect r="r" b="b" t="t" l="l"/>
              <a:pathLst>
                <a:path h="13655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1945600" cy="144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ETL — Fase 2: Enriquecimiento y Lógica de Negocio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31520" y="1132332"/>
            <a:ext cx="164592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EA5E9"/>
                </a:solidFill>
                <a:latin typeface="Calibri (MS)"/>
                <a:ea typeface="Calibri (MS)"/>
                <a:cs typeface="Calibri (MS)"/>
                <a:sym typeface="Calibri (MS)"/>
              </a:rPr>
              <a:t>Join multifuente + segmentación con np.where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65760" y="2011680"/>
            <a:ext cx="3291840" cy="512064"/>
            <a:chOff x="0" y="0"/>
            <a:chExt cx="438912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4047744" y="0"/>
                  </a:lnTo>
                  <a:cubicBezTo>
                    <a:pt x="4236339" y="0"/>
                    <a:pt x="4389120" y="152781"/>
                    <a:pt x="4389120" y="341376"/>
                  </a:cubicBezTo>
                  <a:cubicBezTo>
                    <a:pt x="4389120" y="529971"/>
                    <a:pt x="4236339" y="682752"/>
                    <a:pt x="4047744" y="682752"/>
                  </a:cubicBezTo>
                  <a:lnTo>
                    <a:pt x="341376" y="682752"/>
                  </a:ln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0EA5E9">
                <a:alpha val="72157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65760" y="2011680"/>
            <a:ext cx="3291840" cy="512064"/>
            <a:chOff x="0" y="0"/>
            <a:chExt cx="4389120" cy="6827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438912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b="true" sz="1399" spc="3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PASO 2 DE 5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65760" y="2651760"/>
            <a:ext cx="4389120" cy="1737360"/>
            <a:chOff x="0" y="0"/>
            <a:chExt cx="5852160" cy="23164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852160" cy="2316480"/>
            </a:xfrm>
            <a:custGeom>
              <a:avLst/>
              <a:gdLst/>
              <a:ahLst/>
              <a:cxnLst/>
              <a:rect r="r" b="b" t="t" l="l"/>
              <a:pathLst>
                <a:path h="23164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65760" y="2651760"/>
            <a:ext cx="4389120" cy="1737360"/>
            <a:chOff x="0" y="0"/>
            <a:chExt cx="5852160" cy="23164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852160" cy="2316480"/>
            </a:xfrm>
            <a:custGeom>
              <a:avLst/>
              <a:gdLst/>
              <a:ahLst/>
              <a:cxnLst/>
              <a:rect r="r" b="b" t="t" l="l"/>
              <a:pathLst>
                <a:path h="23164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6" t="0" r="-786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852160" cy="2354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Ventas (SQL)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396990" y="2651760"/>
            <a:ext cx="4389120" cy="1737360"/>
            <a:chOff x="0" y="0"/>
            <a:chExt cx="5852160" cy="2316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852160" cy="2316480"/>
            </a:xfrm>
            <a:custGeom>
              <a:avLst/>
              <a:gdLst/>
              <a:ahLst/>
              <a:cxnLst/>
              <a:rect r="r" b="b" t="t" l="l"/>
              <a:pathLst>
                <a:path h="23164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396990" y="2651760"/>
            <a:ext cx="4389120" cy="1737360"/>
            <a:chOff x="0" y="0"/>
            <a:chExt cx="5852160" cy="23164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852160" cy="2316480"/>
            </a:xfrm>
            <a:custGeom>
              <a:avLst/>
              <a:gdLst/>
              <a:ahLst/>
              <a:cxnLst/>
              <a:rect r="r" b="b" t="t" l="l"/>
              <a:pathLst>
                <a:path h="23164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6" t="0" r="-786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852160" cy="2354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Usuarios (NoSQL)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287931" y="2867512"/>
            <a:ext cx="2377440" cy="1371600"/>
            <a:chOff x="0" y="0"/>
            <a:chExt cx="3169920" cy="1828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169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021" t="0" r="-24021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3169920" cy="185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EA5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LEFT JOIN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EA5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← id_cliente→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891010" y="2651760"/>
            <a:ext cx="6035040" cy="1737360"/>
            <a:chOff x="0" y="0"/>
            <a:chExt cx="8046720" cy="2316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046720" cy="2316480"/>
            </a:xfrm>
            <a:custGeom>
              <a:avLst/>
              <a:gdLst/>
              <a:ahLst/>
              <a:cxnLst/>
              <a:rect r="r" b="b" t="t" l="l"/>
              <a:pathLst>
                <a:path h="231648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891010" y="2651760"/>
            <a:ext cx="6035040" cy="1737360"/>
            <a:chOff x="0" y="0"/>
            <a:chExt cx="8046720" cy="23164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046720" cy="2316480"/>
            </a:xfrm>
            <a:custGeom>
              <a:avLst/>
              <a:gdLst/>
              <a:ahLst/>
              <a:cxnLst/>
              <a:rect r="r" b="b" t="t" l="l"/>
              <a:pathLst>
                <a:path h="231648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84" r="0" b="-1768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046720" cy="2354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df_master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(enriquecido)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881360" y="3050392"/>
            <a:ext cx="914400" cy="1005840"/>
            <a:chOff x="0" y="0"/>
            <a:chExt cx="1219200" cy="13411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19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121920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EA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➜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519674" y="4545055"/>
            <a:ext cx="4389120" cy="548640"/>
            <a:chOff x="0" y="0"/>
            <a:chExt cx="585216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-150000" b="-33970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8521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Segmentos creados →  segmento_cliente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846320" y="5002012"/>
            <a:ext cx="4114800" cy="128016"/>
            <a:chOff x="0" y="0"/>
            <a:chExt cx="5486400" cy="1706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486400" cy="170688"/>
            </a:xfrm>
            <a:custGeom>
              <a:avLst/>
              <a:gdLst/>
              <a:ahLst/>
              <a:cxnLst/>
              <a:rect r="r" b="b" t="t" l="l"/>
              <a:pathLst>
                <a:path h="170688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462274" y="5157703"/>
            <a:ext cx="4114800" cy="1371600"/>
            <a:chOff x="0" y="0"/>
            <a:chExt cx="5486400" cy="1828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4864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4846320" y="5282428"/>
            <a:ext cx="3749040" cy="585216"/>
            <a:chOff x="0" y="0"/>
            <a:chExt cx="4998720" cy="78028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998720" cy="780288"/>
            </a:xfrm>
            <a:custGeom>
              <a:avLst/>
              <a:gdLst/>
              <a:ahLst/>
              <a:cxnLst/>
              <a:rect r="r" b="b" t="t" l="l"/>
              <a:pathLst>
                <a:path h="780288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826" r="0" b="-7482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9987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EA5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Premium Joven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754880" y="5785660"/>
            <a:ext cx="3749040" cy="640080"/>
            <a:chOff x="0" y="0"/>
            <a:chExt cx="4998720" cy="853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998720" cy="853440"/>
            </a:xfrm>
            <a:custGeom>
              <a:avLst/>
              <a:gdLst/>
              <a:ahLst/>
              <a:cxnLst/>
              <a:rect r="r" b="b" t="t" l="l"/>
              <a:pathLst>
                <a:path h="85344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126" r="0" b="-6412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499872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0F172A"/>
                  </a:solidFill>
                  <a:latin typeface="Consolas"/>
                  <a:ea typeface="Consolas"/>
                  <a:cs typeface="Consolas"/>
                  <a:sym typeface="Consolas"/>
                </a:rPr>
                <a:t>monto </a:t>
              </a:r>
              <a:r>
                <a:rPr lang="en-US" sz="1399">
                  <a:solidFill>
                    <a:srgbClr val="0F172A"/>
                  </a:solidFill>
                  <a:latin typeface="Consolas"/>
                  <a:ea typeface="Consolas"/>
                  <a:cs typeface="Consolas"/>
                  <a:sym typeface="Consolas"/>
                </a:rPr>
                <a:t>&gt; 1000 &amp; edad &lt; 30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144000" y="5029687"/>
            <a:ext cx="4114800" cy="128016"/>
            <a:chOff x="0" y="0"/>
            <a:chExt cx="5486400" cy="17068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86400" cy="170688"/>
            </a:xfrm>
            <a:custGeom>
              <a:avLst/>
              <a:gdLst/>
              <a:ahLst/>
              <a:cxnLst/>
              <a:rect r="r" b="b" t="t" l="l"/>
              <a:pathLst>
                <a:path h="170688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474649" y="5157703"/>
            <a:ext cx="4114800" cy="1371600"/>
            <a:chOff x="0" y="0"/>
            <a:chExt cx="5486400" cy="1828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4864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509760" y="5258287"/>
            <a:ext cx="3749040" cy="585216"/>
            <a:chOff x="0" y="0"/>
            <a:chExt cx="4998720" cy="78028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998720" cy="780288"/>
            </a:xfrm>
            <a:custGeom>
              <a:avLst/>
              <a:gdLst/>
              <a:ahLst/>
              <a:cxnLst/>
              <a:rect r="r" b="b" t="t" l="l"/>
              <a:pathLst>
                <a:path h="780288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826" r="0" b="-7482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49987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Estándar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165218" y="5700628"/>
            <a:ext cx="4093582" cy="682371"/>
            <a:chOff x="0" y="0"/>
            <a:chExt cx="5458110" cy="90982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458110" cy="909828"/>
            </a:xfrm>
            <a:custGeom>
              <a:avLst/>
              <a:gdLst/>
              <a:ahLst/>
              <a:cxnLst/>
              <a:rect r="r" b="b" t="t" l="l"/>
              <a:pathLst>
                <a:path h="909828" w="5458110">
                  <a:moveTo>
                    <a:pt x="0" y="0"/>
                  </a:moveTo>
                  <a:lnTo>
                    <a:pt x="5458110" y="0"/>
                  </a:lnTo>
                  <a:lnTo>
                    <a:pt x="5458110" y="909828"/>
                  </a:lnTo>
                  <a:lnTo>
                    <a:pt x="0" y="9098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152" r="8416" b="-5395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5458110" cy="938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79"/>
                </a:lnSpc>
              </a:pPr>
              <a:r>
                <a:rPr lang="en-US" sz="1399">
                  <a:solidFill>
                    <a:srgbClr val="0F172A"/>
                  </a:solidFill>
                  <a:latin typeface="Consolas"/>
                  <a:ea typeface="Consolas"/>
                  <a:cs typeface="Consolas"/>
                  <a:sym typeface="Consolas"/>
                </a:rPr>
                <a:t>Cualquier otro caso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365760" y="6767047"/>
            <a:ext cx="17556480" cy="3456184"/>
            <a:chOff x="0" y="0"/>
            <a:chExt cx="23408640" cy="460824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3408639" cy="4608245"/>
            </a:xfrm>
            <a:custGeom>
              <a:avLst/>
              <a:gdLst/>
              <a:ahLst/>
              <a:cxnLst/>
              <a:rect r="r" b="b" t="t" l="l"/>
              <a:pathLst>
                <a:path h="4608245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4608245"/>
                  </a:lnTo>
                  <a:lnTo>
                    <a:pt x="0" y="4608245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365760" y="6529303"/>
            <a:ext cx="17556480" cy="237744"/>
            <a:chOff x="0" y="0"/>
            <a:chExt cx="23408640" cy="3169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3408639" cy="316992"/>
            </a:xfrm>
            <a:custGeom>
              <a:avLst/>
              <a:gdLst/>
              <a:ahLst/>
              <a:cxnLst/>
              <a:rect r="r" b="b" t="t" l="l"/>
              <a:pathLst>
                <a:path h="316992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316992"/>
                  </a:lnTo>
                  <a:lnTo>
                    <a:pt x="0" y="316992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546284" y="7052797"/>
            <a:ext cx="16829673" cy="1391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8"/>
              </a:lnSpc>
            </a:pPr>
            <a:r>
              <a:rPr lang="en-US" sz="149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# ===analitica_visualizacion.py===</a:t>
            </a:r>
          </a:p>
          <a:p>
            <a:pPr algn="l">
              <a:lnSpc>
                <a:spcPts val="1788"/>
              </a:lnSpc>
            </a:pPr>
            <a:r>
              <a:rPr lang="en-US" sz="149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df["</a:t>
            </a:r>
            <a:r>
              <a:rPr lang="en-US" sz="149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segmento_cliente"] = np.where(</a:t>
            </a:r>
          </a:p>
          <a:p>
            <a:pPr algn="l">
              <a:lnSpc>
                <a:spcPts val="1788"/>
              </a:lnSpc>
            </a:pPr>
            <a:r>
              <a:rPr lang="en-US" sz="149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    (df["monto"] &gt; 1000) &amp; (df["edad"] &lt; 30),</a:t>
            </a:r>
          </a:p>
          <a:p>
            <a:pPr algn="l">
              <a:lnSpc>
                <a:spcPts val="1788"/>
              </a:lnSpc>
            </a:pPr>
            <a:r>
              <a:rPr lang="en-US" sz="149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    "Premium Joven",</a:t>
            </a:r>
          </a:p>
          <a:p>
            <a:pPr algn="l">
              <a:lnSpc>
                <a:spcPts val="1788"/>
              </a:lnSpc>
            </a:pPr>
            <a:r>
              <a:rPr lang="en-US" sz="149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    "Estándar"</a:t>
            </a:r>
          </a:p>
          <a:p>
            <a:pPr algn="l">
              <a:lnSpc>
                <a:spcPts val="1788"/>
              </a:lnSpc>
            </a:pPr>
            <a:r>
              <a:rPr lang="en-US" sz="149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28800"/>
            <a:chOff x="0" y="0"/>
            <a:chExt cx="2438400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46304"/>
            <a:ext cx="16459200" cy="1024128"/>
            <a:chOff x="0" y="0"/>
            <a:chExt cx="21945600" cy="13655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365504"/>
            </a:xfrm>
            <a:custGeom>
              <a:avLst/>
              <a:gdLst/>
              <a:ahLst/>
              <a:cxnLst/>
              <a:rect r="r" b="b" t="t" l="l"/>
              <a:pathLst>
                <a:path h="13655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1945600" cy="144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Analítica Avanzada — PCA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31520" y="1132332"/>
            <a:ext cx="164592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EA5E9"/>
                </a:solidFill>
                <a:latin typeface="Calibri (MS)"/>
                <a:ea typeface="Calibri (MS)"/>
                <a:cs typeface="Calibri (MS)"/>
                <a:sym typeface="Calibri (MS)"/>
              </a:rPr>
              <a:t>Reducción de 20 variables a 3 componentes principales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65760" y="2011680"/>
            <a:ext cx="3291840" cy="512064"/>
            <a:chOff x="0" y="0"/>
            <a:chExt cx="438912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4047744" y="0"/>
                  </a:lnTo>
                  <a:cubicBezTo>
                    <a:pt x="4236339" y="0"/>
                    <a:pt x="4389120" y="152781"/>
                    <a:pt x="4389120" y="341376"/>
                  </a:cubicBezTo>
                  <a:cubicBezTo>
                    <a:pt x="4389120" y="529971"/>
                    <a:pt x="4236339" y="682752"/>
                    <a:pt x="4047744" y="682752"/>
                  </a:cubicBezTo>
                  <a:lnTo>
                    <a:pt x="341376" y="682752"/>
                  </a:ln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0EA5E9">
                <a:alpha val="72157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65760" y="2011680"/>
            <a:ext cx="3291840" cy="512064"/>
            <a:chOff x="0" y="0"/>
            <a:chExt cx="4389120" cy="6827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438912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b="true" sz="1399" spc="3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PASO 3 DE 5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774824" y="2011680"/>
            <a:ext cx="8229600" cy="548640"/>
            <a:chOff x="0" y="0"/>
            <a:chExt cx="1097280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Varianza Explicada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65760" y="2651760"/>
            <a:ext cx="914400" cy="640080"/>
            <a:chOff x="0" y="0"/>
            <a:chExt cx="1219200" cy="8534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19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2192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PC1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71600" y="2743200"/>
            <a:ext cx="7863840" cy="457200"/>
            <a:chOff x="0" y="0"/>
            <a:chExt cx="10485120" cy="609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85120" cy="609600"/>
            </a:xfrm>
            <a:custGeom>
              <a:avLst/>
              <a:gdLst/>
              <a:ahLst/>
              <a:cxnLst/>
              <a:rect r="r" b="b" t="t" l="l"/>
              <a:pathLst>
                <a:path h="6096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71600" y="2743200"/>
            <a:ext cx="1854584" cy="457200"/>
            <a:chOff x="0" y="0"/>
            <a:chExt cx="2472779" cy="609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72757" cy="609600"/>
            </a:xfrm>
            <a:custGeom>
              <a:avLst/>
              <a:gdLst/>
              <a:ahLst/>
              <a:cxnLst/>
              <a:rect r="r" b="b" t="t" l="l"/>
              <a:pathLst>
                <a:path h="609600" w="2472757">
                  <a:moveTo>
                    <a:pt x="0" y="0"/>
                  </a:moveTo>
                  <a:lnTo>
                    <a:pt x="2472757" y="0"/>
                  </a:lnTo>
                  <a:lnTo>
                    <a:pt x="2472757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598164" y="2741295"/>
            <a:ext cx="1097280" cy="640080"/>
            <a:chOff x="0" y="0"/>
            <a:chExt cx="1463040" cy="853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463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EA5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19.17</a:t>
              </a:r>
              <a:r>
                <a:rPr lang="en-US" sz="1800" b="true">
                  <a:solidFill>
                    <a:srgbClr val="0EA5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%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65760" y="3785616"/>
            <a:ext cx="914400" cy="640080"/>
            <a:chOff x="0" y="0"/>
            <a:chExt cx="1219200" cy="8534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19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2192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PC2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71600" y="3877056"/>
            <a:ext cx="7863840" cy="457200"/>
            <a:chOff x="0" y="0"/>
            <a:chExt cx="10485120" cy="609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485120" cy="609600"/>
            </a:xfrm>
            <a:custGeom>
              <a:avLst/>
              <a:gdLst/>
              <a:ahLst/>
              <a:cxnLst/>
              <a:rect r="r" b="b" t="t" l="l"/>
              <a:pathLst>
                <a:path h="6096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71600" y="3877056"/>
            <a:ext cx="1424799" cy="457200"/>
            <a:chOff x="0" y="0"/>
            <a:chExt cx="1899732" cy="609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99770" cy="609600"/>
            </a:xfrm>
            <a:custGeom>
              <a:avLst/>
              <a:gdLst/>
              <a:ahLst/>
              <a:cxnLst/>
              <a:rect r="r" b="b" t="t" l="l"/>
              <a:pathLst>
                <a:path h="609600" w="1899770">
                  <a:moveTo>
                    <a:pt x="0" y="0"/>
                  </a:moveTo>
                  <a:lnTo>
                    <a:pt x="1899770" y="0"/>
                  </a:lnTo>
                  <a:lnTo>
                    <a:pt x="189977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3226184" y="3785616"/>
            <a:ext cx="1097280" cy="640080"/>
            <a:chOff x="0" y="0"/>
            <a:chExt cx="1463040" cy="8534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463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12.33</a:t>
              </a:r>
              <a:r>
                <a:rPr lang="en-US" sz="18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%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365760" y="4919472"/>
            <a:ext cx="914400" cy="640080"/>
            <a:chOff x="0" y="0"/>
            <a:chExt cx="1219200" cy="8534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19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2192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PC3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71600" y="5010912"/>
            <a:ext cx="7863840" cy="457200"/>
            <a:chOff x="0" y="0"/>
            <a:chExt cx="10485120" cy="609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485120" cy="609600"/>
            </a:xfrm>
            <a:custGeom>
              <a:avLst/>
              <a:gdLst/>
              <a:ahLst/>
              <a:cxnLst/>
              <a:rect r="r" b="b" t="t" l="l"/>
              <a:pathLst>
                <a:path h="6096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71600" y="5010912"/>
            <a:ext cx="982980" cy="457200"/>
            <a:chOff x="0" y="0"/>
            <a:chExt cx="1310640" cy="6096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10640" cy="609600"/>
            </a:xfrm>
            <a:custGeom>
              <a:avLst/>
              <a:gdLst/>
              <a:ahLst/>
              <a:cxnLst/>
              <a:rect r="r" b="b" t="t" l="l"/>
              <a:pathLst>
                <a:path h="609600" w="1310640">
                  <a:moveTo>
                    <a:pt x="0" y="0"/>
                  </a:moveTo>
                  <a:lnTo>
                    <a:pt x="1310640" y="0"/>
                  </a:lnTo>
                  <a:lnTo>
                    <a:pt x="131064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2500884" y="4919472"/>
            <a:ext cx="1097280" cy="640080"/>
            <a:chOff x="0" y="0"/>
            <a:chExt cx="1463040" cy="8534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463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9.29</a:t>
              </a:r>
              <a:r>
                <a:rPr lang="en-US" sz="18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%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365760" y="6181344"/>
            <a:ext cx="9144000" cy="548640"/>
            <a:chOff x="0" y="0"/>
            <a:chExt cx="1219200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2192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2192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i="true">
                  <a:solidFill>
                    <a:srgbClr val="10B981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Total acumulado: 40.79%  (umbral: 40%)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365760" y="6858000"/>
            <a:ext cx="9144000" cy="512064"/>
            <a:chOff x="0" y="0"/>
            <a:chExt cx="12192000" cy="68275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192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947" r="0" b="-29794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2192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Principales contribuyentes por componente: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365760" y="7493889"/>
            <a:ext cx="9509760" cy="479679"/>
            <a:chOff x="0" y="0"/>
            <a:chExt cx="12679680" cy="63957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2679680" cy="639572"/>
            </a:xfrm>
            <a:custGeom>
              <a:avLst/>
              <a:gdLst/>
              <a:ahLst/>
              <a:cxnLst/>
              <a:rect r="r" b="b" t="t" l="l"/>
              <a:pathLst>
                <a:path h="639572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639572"/>
                  </a:lnTo>
                  <a:lnTo>
                    <a:pt x="0" y="6395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920" r="0" b="-33967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2679680" cy="677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PC1: monto, gastos_mensuales, puntos_lealtad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365760" y="8010144"/>
            <a:ext cx="9509760" cy="512064"/>
            <a:chOff x="0" y="0"/>
            <a:chExt cx="12679680" cy="68275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2679680" cy="682752"/>
            </a:xfrm>
            <a:custGeom>
              <a:avLst/>
              <a:gdLst/>
              <a:ahLst/>
              <a:cxnLst/>
              <a:rect r="r" b="b" t="t" l="l"/>
              <a:pathLst>
                <a:path h="682752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65" r="0" b="-31186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126796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PC2: edad, ingresos, ratio_gasto_ingreso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365760" y="8558784"/>
            <a:ext cx="9509760" cy="512064"/>
            <a:chOff x="0" y="0"/>
            <a:chExt cx="12679680" cy="68275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2679680" cy="682752"/>
            </a:xfrm>
            <a:custGeom>
              <a:avLst/>
              <a:gdLst/>
              <a:ahLst/>
              <a:cxnLst/>
              <a:rect r="r" b="b" t="t" l="l"/>
              <a:pathLst>
                <a:path h="682752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65" r="0" b="-31186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26796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PC3: score_financiero, ahorro_estimado, indice_consumo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692640" y="2011680"/>
            <a:ext cx="8229600" cy="5120640"/>
            <a:chOff x="0" y="0"/>
            <a:chExt cx="10972800" cy="68275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972800" cy="6827520"/>
            </a:xfrm>
            <a:custGeom>
              <a:avLst/>
              <a:gdLst/>
              <a:ahLst/>
              <a:cxnLst/>
              <a:rect r="r" b="b" t="t" l="l"/>
              <a:pathLst>
                <a:path h="6827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692640" y="2011680"/>
            <a:ext cx="8229600" cy="237744"/>
            <a:chOff x="0" y="0"/>
            <a:chExt cx="10972800" cy="31699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972800" cy="316992"/>
            </a:xfrm>
            <a:custGeom>
              <a:avLst/>
              <a:gdLst/>
              <a:ahLst/>
              <a:cxnLst/>
              <a:rect r="r" b="b" t="t" l="l"/>
              <a:pathLst>
                <a:path h="3169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16992"/>
                  </a:lnTo>
                  <a:lnTo>
                    <a:pt x="0" y="316992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sp>
        <p:nvSpPr>
          <p:cNvPr name="TextBox 65" id="65"/>
          <p:cNvSpPr txBox="true"/>
          <p:nvPr/>
        </p:nvSpPr>
        <p:spPr>
          <a:xfrm rot="0">
            <a:off x="10003536" y="2348484"/>
            <a:ext cx="7607808" cy="438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# ===analitica_visualizacion.py===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variables_pca = [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"monto", "edad", "ingresos", "gastos_mensuales", "puntos_lealtad",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"ratio_gasto_ingreso", "monto_por_edad", "nivel_lealtad",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"ingreso_anual_estimado", "ahorro_estimado", "indice_consumo",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"score_financiero", "comportamiento_1", "comportamiento_2",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"comportamiento_3", "comportamiento_4", "comportamiento_5",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"comportamiento_6", "comportamiento_7", "comportamiento_8"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</a:p>
          <a:p>
            <a:pPr algn="l">
              <a:lnSpc>
                <a:spcPts val="1800"/>
              </a:lnSpc>
            </a:pP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scaler = MinMaxScaler()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variables_escaladas = scaler.fit_transform(df[variables_pca])</a:t>
            </a:r>
          </a:p>
          <a:p>
            <a:pPr algn="l">
              <a:lnSpc>
                <a:spcPts val="1800"/>
              </a:lnSpc>
            </a:pP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pca = PCA(n_components=3)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componentes = pca.fit_transform(variables_escaladas)</a:t>
            </a:r>
          </a:p>
          <a:p>
            <a:pPr algn="l">
              <a:lnSpc>
                <a:spcPts val="1800"/>
              </a:lnSpc>
            </a:pP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df["PCA_1"] = componentes[:, 0]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df["PCA_2"] = componentes[:, 1]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df["PCA_3"] = componentes[:, 2]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9692640" y="7315200"/>
            <a:ext cx="8229600" cy="2743200"/>
            <a:chOff x="0" y="0"/>
            <a:chExt cx="10972800" cy="36576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9728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875520" y="7406640"/>
            <a:ext cx="7863840" cy="548640"/>
            <a:chOff x="0" y="0"/>
            <a:chExt cx="1048512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485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285" r="0" b="-22928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04851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EA5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¿Por qué PCA?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875520" y="7799070"/>
            <a:ext cx="7680960" cy="1920240"/>
            <a:chOff x="0" y="0"/>
            <a:chExt cx="10241280" cy="25603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24128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10241280" cy="2607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 20 variables correlacionadas, el algoritmo de PCA nos permite reducir el ruido y la 'maldición de la dimensionalidad' logramos concentrar el 40.79% de la varianza total en solo 3 componentes principales, facilitando la visualización 3D y el agrupamiento de los 8,000 clientes.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28800"/>
            <a:chOff x="0" y="0"/>
            <a:chExt cx="2438400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46304"/>
            <a:ext cx="16459200" cy="1024128"/>
            <a:chOff x="0" y="0"/>
            <a:chExt cx="21945600" cy="13655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365504"/>
            </a:xfrm>
            <a:custGeom>
              <a:avLst/>
              <a:gdLst/>
              <a:ahLst/>
              <a:cxnLst/>
              <a:rect r="r" b="b" t="t" l="l"/>
              <a:pathLst>
                <a:path h="13655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1945600" cy="144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Visualización y Dashboard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31520" y="1132332"/>
            <a:ext cx="164592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EA5E9"/>
                </a:solidFill>
                <a:latin typeface="Calibri (MS)"/>
                <a:ea typeface="Calibri (MS)"/>
                <a:cs typeface="Calibri (MS)"/>
                <a:sym typeface="Calibri (MS)"/>
              </a:rPr>
              <a:t>Boxplots · Sankey · Scatter PCA — generados en Python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65760" y="2011680"/>
            <a:ext cx="3291840" cy="512064"/>
            <a:chOff x="0" y="0"/>
            <a:chExt cx="438912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4047744" y="0"/>
                  </a:lnTo>
                  <a:cubicBezTo>
                    <a:pt x="4236339" y="0"/>
                    <a:pt x="4389120" y="152781"/>
                    <a:pt x="4389120" y="341376"/>
                  </a:cubicBezTo>
                  <a:cubicBezTo>
                    <a:pt x="4389120" y="529971"/>
                    <a:pt x="4236339" y="682752"/>
                    <a:pt x="4047744" y="682752"/>
                  </a:cubicBezTo>
                  <a:lnTo>
                    <a:pt x="341376" y="682752"/>
                  </a:ln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0EA5E9">
                <a:alpha val="72157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65760" y="2011680"/>
            <a:ext cx="3291840" cy="512064"/>
            <a:chOff x="0" y="0"/>
            <a:chExt cx="4389120" cy="6827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438912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b="true" sz="1399" spc="3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ENTREGABLE VISUAL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65760" y="2011680"/>
            <a:ext cx="5669280" cy="128016"/>
            <a:chOff x="0" y="0"/>
            <a:chExt cx="7559040" cy="1706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559040" cy="170688"/>
            </a:xfrm>
            <a:custGeom>
              <a:avLst/>
              <a:gdLst/>
              <a:ahLst/>
              <a:cxnLst/>
              <a:rect r="r" b="b" t="t" l="l"/>
              <a:pathLst>
                <a:path h="170688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65760" y="2139696"/>
            <a:ext cx="5669280" cy="2743200"/>
            <a:chOff x="0" y="0"/>
            <a:chExt cx="7559040" cy="3657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5590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48640" y="2194560"/>
            <a:ext cx="5303520" cy="640080"/>
            <a:chOff x="0" y="0"/>
            <a:chExt cx="707136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71360" cy="853440"/>
            </a:xfrm>
            <a:custGeom>
              <a:avLst/>
              <a:gdLst/>
              <a:ahLst/>
              <a:cxnLst/>
              <a:rect r="r" b="b" t="t" l="l"/>
              <a:pathLst>
                <a:path h="8534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447" r="0" b="-11144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0713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EA5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Boxplot — Outliers de Monto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48640" y="2871216"/>
            <a:ext cx="5303520" cy="1112509"/>
            <a:chOff x="0" y="0"/>
            <a:chExt cx="7071360" cy="148334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71360" cy="1483345"/>
            </a:xfrm>
            <a:custGeom>
              <a:avLst/>
              <a:gdLst/>
              <a:ahLst/>
              <a:cxnLst/>
              <a:rect r="r" b="b" t="t" l="l"/>
              <a:pathLst>
                <a:path h="1483345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483345"/>
                  </a:lnTo>
                  <a:lnTo>
                    <a:pt x="0" y="14833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682" r="0" b="-3809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071360" cy="1521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Identificación estadística de valores atipicos en el monto de transacción, esto es importante para limpiar el dataset y asegurar que el modelo de PCA no sea sesgado por compras extremas o errores de entrada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65760" y="4882896"/>
            <a:ext cx="5669280" cy="2286000"/>
            <a:chOff x="0" y="0"/>
            <a:chExt cx="7559040" cy="3048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559040" cy="3048000"/>
            </a:xfrm>
            <a:custGeom>
              <a:avLst/>
              <a:gdLst/>
              <a:ahLst/>
              <a:cxnLst/>
              <a:rect r="r" b="b" t="t" l="l"/>
              <a:pathLst>
                <a:path h="304800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365760" y="4882896"/>
            <a:ext cx="5669280" cy="146304"/>
            <a:chOff x="0" y="0"/>
            <a:chExt cx="7559040" cy="19507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559040" cy="195072"/>
            </a:xfrm>
            <a:custGeom>
              <a:avLst/>
              <a:gdLst/>
              <a:ahLst/>
              <a:cxnLst/>
              <a:rect r="r" b="b" t="t" l="l"/>
              <a:pathLst>
                <a:path h="19507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548640" y="5055489"/>
            <a:ext cx="530352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sns.boxplot(x=df["monto"])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345936" y="2011680"/>
            <a:ext cx="5669280" cy="128016"/>
            <a:chOff x="0" y="0"/>
            <a:chExt cx="7559040" cy="1706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559040" cy="170688"/>
            </a:xfrm>
            <a:custGeom>
              <a:avLst/>
              <a:gdLst/>
              <a:ahLst/>
              <a:cxnLst/>
              <a:rect r="r" b="b" t="t" l="l"/>
              <a:pathLst>
                <a:path h="170688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345936" y="2139696"/>
            <a:ext cx="5669280" cy="2743200"/>
            <a:chOff x="0" y="0"/>
            <a:chExt cx="7559040" cy="3657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5590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528816" y="2194560"/>
            <a:ext cx="5303520" cy="640080"/>
            <a:chOff x="0" y="0"/>
            <a:chExt cx="7071360" cy="8534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071360" cy="853440"/>
            </a:xfrm>
            <a:custGeom>
              <a:avLst/>
              <a:gdLst/>
              <a:ahLst/>
              <a:cxnLst/>
              <a:rect r="r" b="b" t="t" l="l"/>
              <a:pathLst>
                <a:path h="8534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447" r="0" b="-11144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70713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Sankey — Embudo Web → Compra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528816" y="2871216"/>
            <a:ext cx="5303520" cy="1112509"/>
            <a:chOff x="0" y="0"/>
            <a:chExt cx="7071360" cy="148334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071360" cy="1483345"/>
            </a:xfrm>
            <a:custGeom>
              <a:avLst/>
              <a:gdLst/>
              <a:ahLst/>
              <a:cxnLst/>
              <a:rect r="r" b="b" t="t" l="l"/>
              <a:pathLst>
                <a:path h="1483345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483345"/>
                  </a:lnTo>
                  <a:lnTo>
                    <a:pt x="0" y="14833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682" r="0" b="-3809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7071360" cy="1521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Visualización del embudo de conversión, mapea el trayecto desde las visitas iniciales, pasando por el checkout, hasta la compra final, permitiendo medir la tasa de abandono real en cada etapa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345936" y="4882896"/>
            <a:ext cx="5669280" cy="2286000"/>
            <a:chOff x="0" y="0"/>
            <a:chExt cx="7559040" cy="3048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559040" cy="3048000"/>
            </a:xfrm>
            <a:custGeom>
              <a:avLst/>
              <a:gdLst/>
              <a:ahLst/>
              <a:cxnLst/>
              <a:rect r="r" b="b" t="t" l="l"/>
              <a:pathLst>
                <a:path h="304800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345936" y="4882896"/>
            <a:ext cx="5669280" cy="146304"/>
            <a:chOff x="0" y="0"/>
            <a:chExt cx="7559040" cy="19507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559040" cy="195072"/>
            </a:xfrm>
            <a:custGeom>
              <a:avLst/>
              <a:gdLst/>
              <a:ahLst/>
              <a:cxnLst/>
              <a:rect r="r" b="b" t="t" l="l"/>
              <a:pathLst>
                <a:path h="19507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6528816" y="5010150"/>
            <a:ext cx="3501321" cy="2158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2"/>
              </a:lnSpc>
            </a:pPr>
            <a:r>
              <a:rPr lang="en-US" sz="893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-US" sz="893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isitas = 3000</a:t>
            </a:r>
          </a:p>
          <a:p>
            <a:pPr algn="l">
              <a:lnSpc>
                <a:spcPts val="1072"/>
              </a:lnSpc>
            </a:pPr>
            <a:r>
              <a:rPr lang="en-US" sz="893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checkout = 1200</a:t>
            </a:r>
          </a:p>
          <a:p>
            <a:pPr algn="l">
              <a:lnSpc>
                <a:spcPts val="1072"/>
              </a:lnSpc>
            </a:pPr>
            <a:r>
              <a:rPr lang="en-US" sz="893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compras = 650</a:t>
            </a:r>
          </a:p>
          <a:p>
            <a:pPr algn="l">
              <a:lnSpc>
                <a:spcPts val="1072"/>
              </a:lnSpc>
            </a:pPr>
          </a:p>
          <a:p>
            <a:pPr algn="l">
              <a:lnSpc>
                <a:spcPts val="1072"/>
              </a:lnSpc>
            </a:pPr>
            <a:r>
              <a:rPr lang="en-US" sz="893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fig = go.Figure(data=[go.Sankey(</a:t>
            </a:r>
          </a:p>
          <a:p>
            <a:pPr algn="l">
              <a:lnSpc>
                <a:spcPts val="1072"/>
              </a:lnSpc>
            </a:pPr>
            <a:r>
              <a:rPr lang="en-US" sz="893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node=dict(</a:t>
            </a:r>
          </a:p>
          <a:p>
            <a:pPr algn="l">
              <a:lnSpc>
                <a:spcPts val="1072"/>
              </a:lnSpc>
            </a:pPr>
            <a:r>
              <a:rPr lang="en-US" sz="893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    pad=15, thickness=20,</a:t>
            </a:r>
          </a:p>
          <a:p>
            <a:pPr algn="l">
              <a:lnSpc>
                <a:spcPts val="1072"/>
              </a:lnSpc>
            </a:pPr>
            <a:r>
              <a:rPr lang="en-US" sz="893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    label=["Visitas Web", "Checkout", "Compra Final"]</a:t>
            </a:r>
          </a:p>
          <a:p>
            <a:pPr algn="l">
              <a:lnSpc>
                <a:spcPts val="1072"/>
              </a:lnSpc>
            </a:pPr>
            <a:r>
              <a:rPr lang="en-US" sz="893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),</a:t>
            </a:r>
          </a:p>
          <a:p>
            <a:pPr algn="l">
              <a:lnSpc>
                <a:spcPts val="1072"/>
              </a:lnSpc>
            </a:pPr>
            <a:r>
              <a:rPr lang="en-US" sz="893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link=dict(</a:t>
            </a:r>
          </a:p>
          <a:p>
            <a:pPr algn="l">
              <a:lnSpc>
                <a:spcPts val="1072"/>
              </a:lnSpc>
            </a:pPr>
            <a:r>
              <a:rPr lang="en-US" sz="893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    source=[0, 1], </a:t>
            </a:r>
          </a:p>
          <a:p>
            <a:pPr algn="l">
              <a:lnSpc>
                <a:spcPts val="1072"/>
              </a:lnSpc>
            </a:pPr>
            <a:r>
              <a:rPr lang="en-US" sz="893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    target=[1, 2], </a:t>
            </a:r>
          </a:p>
          <a:p>
            <a:pPr algn="l">
              <a:lnSpc>
                <a:spcPts val="1072"/>
              </a:lnSpc>
            </a:pPr>
            <a:r>
              <a:rPr lang="en-US" sz="893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    value=[visitas, compras]</a:t>
            </a:r>
          </a:p>
          <a:p>
            <a:pPr algn="l">
              <a:lnSpc>
                <a:spcPts val="1072"/>
              </a:lnSpc>
            </a:pPr>
            <a:r>
              <a:rPr lang="en-US" sz="893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)</a:t>
            </a:r>
          </a:p>
          <a:p>
            <a:pPr algn="l">
              <a:lnSpc>
                <a:spcPts val="1072"/>
              </a:lnSpc>
            </a:pPr>
            <a:r>
              <a:rPr lang="en-US" sz="893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)])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2326112" y="2011680"/>
            <a:ext cx="5669280" cy="128016"/>
            <a:chOff x="0" y="0"/>
            <a:chExt cx="7559040" cy="17068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559040" cy="170688"/>
            </a:xfrm>
            <a:custGeom>
              <a:avLst/>
              <a:gdLst/>
              <a:ahLst/>
              <a:cxnLst/>
              <a:rect r="r" b="b" t="t" l="l"/>
              <a:pathLst>
                <a:path h="170688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326112" y="2139696"/>
            <a:ext cx="5669280" cy="2743200"/>
            <a:chOff x="0" y="0"/>
            <a:chExt cx="7559040" cy="36576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5590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508992" y="2194560"/>
            <a:ext cx="5303520" cy="640080"/>
            <a:chOff x="0" y="0"/>
            <a:chExt cx="7071360" cy="8534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071360" cy="853440"/>
            </a:xfrm>
            <a:custGeom>
              <a:avLst/>
              <a:gdLst/>
              <a:ahLst/>
              <a:cxnLst/>
              <a:rect r="r" b="b" t="t" l="l"/>
              <a:pathLst>
                <a:path h="8534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447" r="0" b="-11144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70713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Scatter — Clusters PCA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508992" y="2871216"/>
            <a:ext cx="5303520" cy="1112509"/>
            <a:chOff x="0" y="0"/>
            <a:chExt cx="7071360" cy="148334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071360" cy="1483345"/>
            </a:xfrm>
            <a:custGeom>
              <a:avLst/>
              <a:gdLst/>
              <a:ahLst/>
              <a:cxnLst/>
              <a:rect r="r" b="b" t="t" l="l"/>
              <a:pathLst>
                <a:path h="1483345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483345"/>
                  </a:lnTo>
                  <a:lnTo>
                    <a:pt x="0" y="14833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682" r="0" b="-3809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7071360" cy="1521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PC1 vs PC2 coloreado por segmento_cliente, permite validar visualmente la separación de los segmentos Premium Joven y Estándar, confirmando que nuestra regla de negocio tiene una base estadística sólida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326112" y="4882896"/>
            <a:ext cx="5669280" cy="2286000"/>
            <a:chOff x="0" y="0"/>
            <a:chExt cx="7559040" cy="30480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559040" cy="3048000"/>
            </a:xfrm>
            <a:custGeom>
              <a:avLst/>
              <a:gdLst/>
              <a:ahLst/>
              <a:cxnLst/>
              <a:rect r="r" b="b" t="t" l="l"/>
              <a:pathLst>
                <a:path h="304800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2326112" y="4882896"/>
            <a:ext cx="5669280" cy="146304"/>
            <a:chOff x="0" y="0"/>
            <a:chExt cx="7559040" cy="19507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559040" cy="195072"/>
            </a:xfrm>
            <a:custGeom>
              <a:avLst/>
              <a:gdLst/>
              <a:ahLst/>
              <a:cxnLst/>
              <a:rect r="r" b="b" t="t" l="l"/>
              <a:pathLst>
                <a:path h="19507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sp>
        <p:nvSpPr>
          <p:cNvPr name="TextBox 57" id="57"/>
          <p:cNvSpPr txBox="true"/>
          <p:nvPr/>
        </p:nvSpPr>
        <p:spPr>
          <a:xfrm rot="0">
            <a:off x="12508992" y="5055489"/>
            <a:ext cx="530352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sns.scatterplot(data=df, x="PCA_1", y="PCA_2", hue="segmento_cliente", alpha=0.7)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365760" y="7406640"/>
            <a:ext cx="17556480" cy="1828800"/>
            <a:chOff x="0" y="0"/>
            <a:chExt cx="23408640" cy="2438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340863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365760" y="7406640"/>
            <a:ext cx="219456" cy="1828800"/>
            <a:chOff x="0" y="0"/>
            <a:chExt cx="292608" cy="24384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92608" cy="2438400"/>
            </a:xfrm>
            <a:custGeom>
              <a:avLst/>
              <a:gdLst/>
              <a:ahLst/>
              <a:cxnLst/>
              <a:rect r="r" b="b" t="t" l="l"/>
              <a:pathLst>
                <a:path h="243840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822960" y="7498080"/>
            <a:ext cx="3657600" cy="640080"/>
            <a:chOff x="0" y="0"/>
            <a:chExt cx="4876800" cy="8534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Archivo de Salida: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22960" y="8138160"/>
            <a:ext cx="8229600" cy="640080"/>
            <a:chOff x="0" y="0"/>
            <a:chExt cx="10972800" cy="8534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109728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0B98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data_master_clean.csv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365760" y="9509760"/>
            <a:ext cx="17556480" cy="548640"/>
            <a:chOff x="0" y="0"/>
            <a:chExt cx="2340864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3408639" cy="731520"/>
            </a:xfrm>
            <a:custGeom>
              <a:avLst/>
              <a:gdLst/>
              <a:ahLst/>
              <a:cxnLst/>
              <a:rect r="r" b="b" t="t" l="l"/>
              <a:pathLst>
                <a:path h="731520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2340864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Librerías: matplotlib · seaborn · plotly · pandas · numpy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28800"/>
            <a:chOff x="0" y="0"/>
            <a:chExt cx="2438400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46304"/>
            <a:ext cx="16459200" cy="1024128"/>
            <a:chOff x="0" y="0"/>
            <a:chExt cx="21945600" cy="13655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365504"/>
            </a:xfrm>
            <a:custGeom>
              <a:avLst/>
              <a:gdLst/>
              <a:ahLst/>
              <a:cxnLst/>
              <a:rect r="r" b="b" t="t" l="l"/>
              <a:pathLst>
                <a:path h="13655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1945600" cy="144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Retos Encontrados y Soluciones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31520" y="1132332"/>
            <a:ext cx="164592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EA5E9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Problemas reales durante el desarrollo del pipeline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65760" y="2011680"/>
            <a:ext cx="8229600" cy="1645920"/>
            <a:chOff x="0" y="0"/>
            <a:chExt cx="10972800" cy="21945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48640" y="2066544"/>
            <a:ext cx="7680960" cy="402336"/>
            <a:chOff x="0" y="0"/>
            <a:chExt cx="10241280" cy="5364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41280" cy="536448"/>
            </a:xfrm>
            <a:custGeom>
              <a:avLst/>
              <a:gdLst/>
              <a:ahLst/>
              <a:cxnLst/>
              <a:rect r="r" b="b" t="t" l="l"/>
              <a:pathLst>
                <a:path h="53644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2412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4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RETO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48640" y="2487168"/>
            <a:ext cx="7680960" cy="1097280"/>
            <a:chOff x="0" y="0"/>
            <a:chExt cx="10241280" cy="1463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241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2412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</a:t>
              </a: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nconsistencia de Fechas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686800" y="2468880"/>
            <a:ext cx="731520" cy="731520"/>
            <a:chOff x="0" y="0"/>
            <a:chExt cx="975360" cy="9753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DC262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509760" y="2011680"/>
            <a:ext cx="8412480" cy="1645920"/>
            <a:chOff x="0" y="0"/>
            <a:chExt cx="11216640" cy="21945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2166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509760" y="2011680"/>
            <a:ext cx="128016" cy="1645920"/>
            <a:chOff x="0" y="0"/>
            <a:chExt cx="170688" cy="21945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0688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747504" y="2066544"/>
            <a:ext cx="7863840" cy="402336"/>
            <a:chOff x="0" y="0"/>
            <a:chExt cx="10485120" cy="5364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485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843" r="0" b="-33084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485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400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SOLUCIÓN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747504" y="2487168"/>
            <a:ext cx="7863840" cy="1097280"/>
            <a:chOff x="0" y="0"/>
            <a:chExt cx="10485120" cy="1463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485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48512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Uso de </a:t>
              </a: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pd.to_datetime con dayfirst=True y gestión de excepciones try-except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65760" y="3931920"/>
            <a:ext cx="8229600" cy="1645920"/>
            <a:chOff x="0" y="0"/>
            <a:chExt cx="10972800" cy="21945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48640" y="3986784"/>
            <a:ext cx="7680960" cy="402336"/>
            <a:chOff x="0" y="0"/>
            <a:chExt cx="10241280" cy="53644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241280" cy="536448"/>
            </a:xfrm>
            <a:custGeom>
              <a:avLst/>
              <a:gdLst/>
              <a:ahLst/>
              <a:cxnLst/>
              <a:rect r="r" b="b" t="t" l="l"/>
              <a:pathLst>
                <a:path h="53644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02412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4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RETO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48640" y="4407408"/>
            <a:ext cx="7680960" cy="1097280"/>
            <a:chOff x="0" y="0"/>
            <a:chExt cx="10241280" cy="14630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241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02412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</a:t>
              </a: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tegración de Fuentes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686800" y="4389120"/>
            <a:ext cx="731520" cy="731520"/>
            <a:chOff x="0" y="0"/>
            <a:chExt cx="975360" cy="9753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F59E0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509760" y="3931920"/>
            <a:ext cx="8412480" cy="1645920"/>
            <a:chOff x="0" y="0"/>
            <a:chExt cx="11216640" cy="21945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2166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509760" y="3931920"/>
            <a:ext cx="128016" cy="1645920"/>
            <a:chOff x="0" y="0"/>
            <a:chExt cx="170688" cy="21945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70688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747504" y="3986784"/>
            <a:ext cx="7863840" cy="402336"/>
            <a:chOff x="0" y="0"/>
            <a:chExt cx="10485120" cy="53644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485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843" r="0" b="-33084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485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400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SOLUCIÓN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747504" y="4407408"/>
            <a:ext cx="7863840" cy="1097280"/>
            <a:chOff x="0" y="0"/>
            <a:chExt cx="10485120" cy="14630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485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48512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LEFT JOIN para unif</a:t>
              </a: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icación de datasets, resultando en un dataset maestro de 8,000 filas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365760" y="5852160"/>
            <a:ext cx="8229600" cy="1645920"/>
            <a:chOff x="0" y="0"/>
            <a:chExt cx="10972800" cy="21945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548640" y="5907024"/>
            <a:ext cx="7680960" cy="402336"/>
            <a:chOff x="0" y="0"/>
            <a:chExt cx="10241280" cy="53644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241280" cy="536448"/>
            </a:xfrm>
            <a:custGeom>
              <a:avLst/>
              <a:gdLst/>
              <a:ahLst/>
              <a:cxnLst/>
              <a:rect r="r" b="b" t="t" l="l"/>
              <a:pathLst>
                <a:path h="53644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02412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4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RETO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548640" y="6327648"/>
            <a:ext cx="7680960" cy="1097280"/>
            <a:chOff x="0" y="0"/>
            <a:chExt cx="10241280" cy="14630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241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102412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</a:t>
              </a: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uplicidad en Transacciones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686800" y="6309360"/>
            <a:ext cx="731520" cy="731520"/>
            <a:chOff x="0" y="0"/>
            <a:chExt cx="975360" cy="9753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7C3AE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509760" y="5852160"/>
            <a:ext cx="8412480" cy="1645920"/>
            <a:chOff x="0" y="0"/>
            <a:chExt cx="11216640" cy="21945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12166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509760" y="5852160"/>
            <a:ext cx="128016" cy="1645920"/>
            <a:chOff x="0" y="0"/>
            <a:chExt cx="170688" cy="21945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70688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747504" y="5907024"/>
            <a:ext cx="7863840" cy="402336"/>
            <a:chOff x="0" y="0"/>
            <a:chExt cx="10485120" cy="53644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485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843" r="0" b="-33084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0485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400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SOLUCIÓN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747504" y="6327648"/>
            <a:ext cx="7863840" cy="1097280"/>
            <a:chOff x="0" y="0"/>
            <a:chExt cx="10485120" cy="14630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485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048512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</a:t>
              </a: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liminación de registros duplicados en id_transaccion mediante el método .drop_duplicates()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365760" y="7772400"/>
            <a:ext cx="8229600" cy="1645920"/>
            <a:chOff x="0" y="0"/>
            <a:chExt cx="10972800" cy="21945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972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548640" y="7827264"/>
            <a:ext cx="7680960" cy="402336"/>
            <a:chOff x="0" y="0"/>
            <a:chExt cx="10241280" cy="53644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241280" cy="536448"/>
            </a:xfrm>
            <a:custGeom>
              <a:avLst/>
              <a:gdLst/>
              <a:ahLst/>
              <a:cxnLst/>
              <a:rect r="r" b="b" t="t" l="l"/>
              <a:pathLst>
                <a:path h="53644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102412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4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RETO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548640" y="8247888"/>
            <a:ext cx="7680960" cy="1097280"/>
            <a:chOff x="0" y="0"/>
            <a:chExt cx="10241280" cy="14630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241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102412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</a:t>
              </a: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ntegridad en Inventario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8686800" y="8229600"/>
            <a:ext cx="731520" cy="731520"/>
            <a:chOff x="0" y="0"/>
            <a:chExt cx="975360" cy="97536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10B98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509760" y="7772400"/>
            <a:ext cx="8412480" cy="1645920"/>
            <a:chOff x="0" y="0"/>
            <a:chExt cx="11216640" cy="219456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12166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509760" y="7772400"/>
            <a:ext cx="128016" cy="1645920"/>
            <a:chOff x="0" y="0"/>
            <a:chExt cx="170688" cy="219456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70688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747504" y="7827264"/>
            <a:ext cx="7863840" cy="402336"/>
            <a:chOff x="0" y="0"/>
            <a:chExt cx="10485120" cy="53644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485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843" r="0" b="-330843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10485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400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SOLUCIÓN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747504" y="8247888"/>
            <a:ext cx="7863840" cy="1097280"/>
            <a:chOff x="0" y="0"/>
            <a:chExt cx="10485120" cy="14630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485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1048512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</a:t>
              </a: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tección de valores nulos y aplicación de imputación (fillna(0)) para asegurar la consistencia del dataset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" cy="10287000"/>
            <a:chOff x="0" y="0"/>
            <a:chExt cx="12192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71600" y="548640"/>
            <a:ext cx="15544800" cy="1097280"/>
            <a:chOff x="0" y="0"/>
            <a:chExt cx="2072640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038" r="0" b="-22603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14300"/>
              <a:ext cx="2072640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Conclusión 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71600" y="1609344"/>
            <a:ext cx="15544800" cy="1005840"/>
            <a:chOff x="0" y="0"/>
            <a:chExt cx="20726400" cy="13411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132" r="0" b="-25113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2072640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0EA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Entregables del Proyecto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71600" y="2779776"/>
            <a:ext cx="11887200" cy="73152"/>
            <a:chOff x="0" y="0"/>
            <a:chExt cx="15849600" cy="975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849600" cy="97536"/>
            </a:xfrm>
            <a:custGeom>
              <a:avLst/>
              <a:gdLst/>
              <a:ahLst/>
              <a:cxnLst/>
              <a:rect r="r" b="b" t="t" l="l"/>
              <a:pathLst>
                <a:path h="97536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94A3B8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71600" y="3017520"/>
            <a:ext cx="10607040" cy="2560320"/>
            <a:chOff x="0" y="0"/>
            <a:chExt cx="14142720" cy="34137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1427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71600" y="3017520"/>
            <a:ext cx="10607040" cy="128016"/>
            <a:chOff x="0" y="0"/>
            <a:chExt cx="14142720" cy="1706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142720" cy="170688"/>
            </a:xfrm>
            <a:custGeom>
              <a:avLst/>
              <a:gdLst/>
              <a:ahLst/>
              <a:cxnLst/>
              <a:rect r="r" b="b" t="t" l="l"/>
              <a:pathLst>
                <a:path h="170688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45920" y="3145536"/>
            <a:ext cx="10058400" cy="585216"/>
            <a:chOff x="0" y="0"/>
            <a:chExt cx="13411200" cy="7802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11200" cy="780288"/>
            </a:xfrm>
            <a:custGeom>
              <a:avLst/>
              <a:gdLst/>
              <a:ahLst/>
              <a:cxnLst/>
              <a:rect r="r" b="b" t="t" l="l"/>
              <a:pathLst>
                <a:path h="780288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899" r="0" b="-28489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34112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</a:t>
              </a:r>
              <a:r>
                <a:rPr lang="en-US" sz="22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scubrimiento central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45920" y="3803904"/>
            <a:ext cx="10058400" cy="1645920"/>
            <a:chOff x="0" y="0"/>
            <a:chExt cx="13411200" cy="21945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4112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075" r="0" b="-6907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341120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segmento 'Premium Joven' (monto &gt; 1000 &amp; edad &lt; 30) es validado mediante PCA, mostrando una agrupación diferenciada en el plano PC1-PC2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435840" y="2830068"/>
            <a:ext cx="5486400" cy="585216"/>
            <a:chOff x="0" y="0"/>
            <a:chExt cx="7315200" cy="7802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15200" cy="780288"/>
            </a:xfrm>
            <a:custGeom>
              <a:avLst/>
              <a:gdLst/>
              <a:ahLst/>
              <a:cxnLst/>
              <a:rect r="r" b="b" t="t" l="l"/>
              <a:pathLst>
                <a:path h="78028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672" r="0" b="-13267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73152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EA5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Entregables: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435840" y="3212973"/>
            <a:ext cx="5486400" cy="475488"/>
            <a:chOff x="0" y="0"/>
            <a:chExt cx="7315200" cy="63398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0" cy="633984"/>
            </a:xfrm>
            <a:custGeom>
              <a:avLst/>
              <a:gdLst/>
              <a:ahLst/>
              <a:cxnLst/>
              <a:rect r="r" b="b" t="t" l="l"/>
              <a:pathLst>
                <a:path h="63398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7315200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◈  main.py  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435840" y="3743325"/>
            <a:ext cx="5486400" cy="475488"/>
            <a:chOff x="0" y="0"/>
            <a:chExt cx="7315200" cy="6339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15200" cy="633984"/>
            </a:xfrm>
            <a:custGeom>
              <a:avLst/>
              <a:gdLst/>
              <a:ahLst/>
              <a:cxnLst/>
              <a:rect r="r" b="b" t="t" l="l"/>
              <a:pathLst>
                <a:path h="63398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7315200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◈  limpieza_datos.py  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435840" y="4273677"/>
            <a:ext cx="5486400" cy="475488"/>
            <a:chOff x="0" y="0"/>
            <a:chExt cx="7315200" cy="63398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0" cy="633984"/>
            </a:xfrm>
            <a:custGeom>
              <a:avLst/>
              <a:gdLst/>
              <a:ahLst/>
              <a:cxnLst/>
              <a:rect r="r" b="b" t="t" l="l"/>
              <a:pathLst>
                <a:path h="63398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7315200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◈  data_master_clean.csv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435840" y="4804029"/>
            <a:ext cx="5486400" cy="475488"/>
            <a:chOff x="0" y="0"/>
            <a:chExt cx="7315200" cy="63398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15200" cy="633984"/>
            </a:xfrm>
            <a:custGeom>
              <a:avLst/>
              <a:gdLst/>
              <a:ahLst/>
              <a:cxnLst/>
              <a:rect r="r" b="b" t="t" l="l"/>
              <a:pathLst>
                <a:path h="63398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7315200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◈  conexiones.py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435840" y="5340096"/>
            <a:ext cx="5486400" cy="475488"/>
            <a:chOff x="0" y="0"/>
            <a:chExt cx="7315200" cy="63398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15200" cy="633984"/>
            </a:xfrm>
            <a:custGeom>
              <a:avLst/>
              <a:gdLst/>
              <a:ahLst/>
              <a:cxnLst/>
              <a:rect r="r" b="b" t="t" l="l"/>
              <a:pathLst>
                <a:path h="63398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7315200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◈  analitica_visualizacion.py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35024" y="5749671"/>
            <a:ext cx="16459200" cy="109728"/>
            <a:chOff x="0" y="0"/>
            <a:chExt cx="21945600" cy="14630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945600" cy="146304"/>
            </a:xfrm>
            <a:custGeom>
              <a:avLst/>
              <a:gdLst/>
              <a:ahLst/>
              <a:cxnLst/>
              <a:rect r="r" b="b" t="t" l="l"/>
              <a:pathLst>
                <a:path h="1463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94A3B8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71600" y="6126480"/>
            <a:ext cx="16459200" cy="548640"/>
            <a:chOff x="0" y="0"/>
            <a:chExt cx="2194560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EA5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Resumen del Pipeline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71600" y="6803136"/>
            <a:ext cx="2523744" cy="1737360"/>
            <a:chOff x="0" y="0"/>
            <a:chExt cx="3364992" cy="23164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364992" cy="2316480"/>
            </a:xfrm>
            <a:custGeom>
              <a:avLst/>
              <a:gdLst/>
              <a:ahLst/>
              <a:cxnLst/>
              <a:rect r="r" b="b" t="t" l="l"/>
              <a:pathLst>
                <a:path h="231648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71600" y="6803136"/>
            <a:ext cx="2523744" cy="128016"/>
            <a:chOff x="0" y="0"/>
            <a:chExt cx="3364992" cy="17068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364992" cy="170688"/>
            </a:xfrm>
            <a:custGeom>
              <a:avLst/>
              <a:gdLst/>
              <a:ahLst/>
              <a:cxnLst/>
              <a:rect r="r" b="b" t="t" l="l"/>
              <a:pathLst>
                <a:path h="170688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371600" y="6986016"/>
            <a:ext cx="2523744" cy="1463040"/>
            <a:chOff x="0" y="0"/>
            <a:chExt cx="3364992" cy="19507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364992" cy="1950720"/>
            </a:xfrm>
            <a:custGeom>
              <a:avLst/>
              <a:gdLst/>
              <a:ahLst/>
              <a:cxnLst/>
              <a:rect r="r" b="b" t="t" l="l"/>
              <a:pathLst>
                <a:path h="195072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378" t="0" r="-24378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3364992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Extracción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3895344" y="7223760"/>
            <a:ext cx="256032" cy="822960"/>
            <a:chOff x="0" y="0"/>
            <a:chExt cx="341376" cy="10972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41376" cy="1097280"/>
            </a:xfrm>
            <a:custGeom>
              <a:avLst/>
              <a:gdLst/>
              <a:ahLst/>
              <a:cxnLst/>
              <a:rect r="r" b="b" t="t" l="l"/>
              <a:pathLst>
                <a:path h="1097280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62404" t="0" r="-362404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341376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0EA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4151376" y="6803136"/>
            <a:ext cx="2523744" cy="1737360"/>
            <a:chOff x="0" y="0"/>
            <a:chExt cx="3364992" cy="23164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364992" cy="2316480"/>
            </a:xfrm>
            <a:custGeom>
              <a:avLst/>
              <a:gdLst/>
              <a:ahLst/>
              <a:cxnLst/>
              <a:rect r="r" b="b" t="t" l="l"/>
              <a:pathLst>
                <a:path h="231648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4151376" y="6803136"/>
            <a:ext cx="2523744" cy="128016"/>
            <a:chOff x="0" y="0"/>
            <a:chExt cx="3364992" cy="17068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364992" cy="170688"/>
            </a:xfrm>
            <a:custGeom>
              <a:avLst/>
              <a:gdLst/>
              <a:ahLst/>
              <a:cxnLst/>
              <a:rect r="r" b="b" t="t" l="l"/>
              <a:pathLst>
                <a:path h="170688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4151376" y="6986016"/>
            <a:ext cx="2523744" cy="1463040"/>
            <a:chOff x="0" y="0"/>
            <a:chExt cx="3364992" cy="19507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364992" cy="1950720"/>
            </a:xfrm>
            <a:custGeom>
              <a:avLst/>
              <a:gdLst/>
              <a:ahLst/>
              <a:cxnLst/>
              <a:rect r="r" b="b" t="t" l="l"/>
              <a:pathLst>
                <a:path h="195072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378" t="0" r="-24378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3364992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Limpieza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nulos/dupl.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675120" y="7223760"/>
            <a:ext cx="256032" cy="822960"/>
            <a:chOff x="0" y="0"/>
            <a:chExt cx="341376" cy="10972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41376" cy="1097280"/>
            </a:xfrm>
            <a:custGeom>
              <a:avLst/>
              <a:gdLst/>
              <a:ahLst/>
              <a:cxnLst/>
              <a:rect r="r" b="b" t="t" l="l"/>
              <a:pathLst>
                <a:path h="1097280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62404" t="0" r="-362404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341376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0EA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931152" y="6803136"/>
            <a:ext cx="2523744" cy="1737360"/>
            <a:chOff x="0" y="0"/>
            <a:chExt cx="3364992" cy="23164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364992" cy="2316480"/>
            </a:xfrm>
            <a:custGeom>
              <a:avLst/>
              <a:gdLst/>
              <a:ahLst/>
              <a:cxnLst/>
              <a:rect r="r" b="b" t="t" l="l"/>
              <a:pathLst>
                <a:path h="231648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6931152" y="6803136"/>
            <a:ext cx="2523744" cy="128016"/>
            <a:chOff x="0" y="0"/>
            <a:chExt cx="3364992" cy="17068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364992" cy="170688"/>
            </a:xfrm>
            <a:custGeom>
              <a:avLst/>
              <a:gdLst/>
              <a:ahLst/>
              <a:cxnLst/>
              <a:rect r="r" b="b" t="t" l="l"/>
              <a:pathLst>
                <a:path h="170688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6931152" y="6986016"/>
            <a:ext cx="2523744" cy="1463040"/>
            <a:chOff x="0" y="0"/>
            <a:chExt cx="3364992" cy="19507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364992" cy="1950720"/>
            </a:xfrm>
            <a:custGeom>
              <a:avLst/>
              <a:gdLst/>
              <a:ahLst/>
              <a:cxnLst/>
              <a:rect r="r" b="b" t="t" l="l"/>
              <a:pathLst>
                <a:path h="195072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378" t="0" r="-24378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3364992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MinMax Scaling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454896" y="7223760"/>
            <a:ext cx="256032" cy="822960"/>
            <a:chOff x="0" y="0"/>
            <a:chExt cx="341376" cy="10972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41376" cy="1097280"/>
            </a:xfrm>
            <a:custGeom>
              <a:avLst/>
              <a:gdLst/>
              <a:ahLst/>
              <a:cxnLst/>
              <a:rect r="r" b="b" t="t" l="l"/>
              <a:pathLst>
                <a:path h="1097280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62404" t="0" r="-362404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341376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0EA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710928" y="6803136"/>
            <a:ext cx="2523744" cy="1737360"/>
            <a:chOff x="0" y="0"/>
            <a:chExt cx="3364992" cy="23164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364992" cy="2316480"/>
            </a:xfrm>
            <a:custGeom>
              <a:avLst/>
              <a:gdLst/>
              <a:ahLst/>
              <a:cxnLst/>
              <a:rect r="r" b="b" t="t" l="l"/>
              <a:pathLst>
                <a:path h="231648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710928" y="6803136"/>
            <a:ext cx="2523744" cy="128016"/>
            <a:chOff x="0" y="0"/>
            <a:chExt cx="3364992" cy="17068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364992" cy="170688"/>
            </a:xfrm>
            <a:custGeom>
              <a:avLst/>
              <a:gdLst/>
              <a:ahLst/>
              <a:cxnLst/>
              <a:rect r="r" b="b" t="t" l="l"/>
              <a:pathLst>
                <a:path h="170688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9710928" y="6986016"/>
            <a:ext cx="2523744" cy="1463040"/>
            <a:chOff x="0" y="0"/>
            <a:chExt cx="3364992" cy="19507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364992" cy="1950720"/>
            </a:xfrm>
            <a:custGeom>
              <a:avLst/>
              <a:gdLst/>
              <a:ahLst/>
              <a:cxnLst/>
              <a:rect r="r" b="b" t="t" l="l"/>
              <a:pathLst>
                <a:path h="195072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378" t="0" r="-24378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28575"/>
              <a:ext cx="3364992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Enriquecimiento (Left Join)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2234672" y="7223760"/>
            <a:ext cx="256032" cy="822960"/>
            <a:chOff x="0" y="0"/>
            <a:chExt cx="341376" cy="109728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41376" cy="1097280"/>
            </a:xfrm>
            <a:custGeom>
              <a:avLst/>
              <a:gdLst/>
              <a:ahLst/>
              <a:cxnLst/>
              <a:rect r="r" b="b" t="t" l="l"/>
              <a:pathLst>
                <a:path h="1097280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62404" t="0" r="-362404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341376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0EA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2490704" y="6803136"/>
            <a:ext cx="2523744" cy="1737360"/>
            <a:chOff x="0" y="0"/>
            <a:chExt cx="3364992" cy="231648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364992" cy="2316480"/>
            </a:xfrm>
            <a:custGeom>
              <a:avLst/>
              <a:gdLst/>
              <a:ahLst/>
              <a:cxnLst/>
              <a:rect r="r" b="b" t="t" l="l"/>
              <a:pathLst>
                <a:path h="231648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2490704" y="6803136"/>
            <a:ext cx="2523744" cy="128016"/>
            <a:chOff x="0" y="0"/>
            <a:chExt cx="3364992" cy="17068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364992" cy="170688"/>
            </a:xfrm>
            <a:custGeom>
              <a:avLst/>
              <a:gdLst/>
              <a:ahLst/>
              <a:cxnLst/>
              <a:rect r="r" b="b" t="t" l="l"/>
              <a:pathLst>
                <a:path h="170688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2490704" y="6986016"/>
            <a:ext cx="2523744" cy="1463040"/>
            <a:chOff x="0" y="0"/>
            <a:chExt cx="3364992" cy="19507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364992" cy="1950720"/>
            </a:xfrm>
            <a:custGeom>
              <a:avLst/>
              <a:gdLst/>
              <a:ahLst/>
              <a:cxnLst/>
              <a:rect r="r" b="b" t="t" l="l"/>
              <a:pathLst>
                <a:path h="195072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378" t="0" r="-24378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28575"/>
              <a:ext cx="3364992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PCA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componentes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5014448" y="7223760"/>
            <a:ext cx="256032" cy="822960"/>
            <a:chOff x="0" y="0"/>
            <a:chExt cx="341376" cy="10972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41376" cy="1097280"/>
            </a:xfrm>
            <a:custGeom>
              <a:avLst/>
              <a:gdLst/>
              <a:ahLst/>
              <a:cxnLst/>
              <a:rect r="r" b="b" t="t" l="l"/>
              <a:pathLst>
                <a:path h="1097280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62404" t="0" r="-362404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341376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0EA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5270480" y="6803136"/>
            <a:ext cx="2523744" cy="1737360"/>
            <a:chOff x="0" y="0"/>
            <a:chExt cx="3364992" cy="231648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364992" cy="2316480"/>
            </a:xfrm>
            <a:custGeom>
              <a:avLst/>
              <a:gdLst/>
              <a:ahLst/>
              <a:cxnLst/>
              <a:rect r="r" b="b" t="t" l="l"/>
              <a:pathLst>
                <a:path h="231648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5270480" y="6803136"/>
            <a:ext cx="2523744" cy="128016"/>
            <a:chOff x="0" y="0"/>
            <a:chExt cx="3364992" cy="170688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364992" cy="170688"/>
            </a:xfrm>
            <a:custGeom>
              <a:avLst/>
              <a:gdLst/>
              <a:ahLst/>
              <a:cxnLst/>
              <a:rect r="r" b="b" t="t" l="l"/>
              <a:pathLst>
                <a:path h="170688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5270480" y="6986016"/>
            <a:ext cx="2523744" cy="1463040"/>
            <a:chOff x="0" y="0"/>
            <a:chExt cx="3364992" cy="195072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364992" cy="1950720"/>
            </a:xfrm>
            <a:custGeom>
              <a:avLst/>
              <a:gdLst/>
              <a:ahLst/>
              <a:cxnLst/>
              <a:rect r="r" b="b" t="t" l="l"/>
              <a:pathLst>
                <a:path h="195072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378" t="0" r="-24378" b="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28575"/>
              <a:ext cx="3364992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 (PNG/HTML)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 .csv</a:t>
              </a:r>
            </a:p>
          </p:txBody>
        </p:sp>
      </p:grpSp>
      <p:sp>
        <p:nvSpPr>
          <p:cNvPr name="TextBox 102" id="102"/>
          <p:cNvSpPr txBox="true"/>
          <p:nvPr/>
        </p:nvSpPr>
        <p:spPr>
          <a:xfrm rot="0">
            <a:off x="4383487" y="9026271"/>
            <a:ext cx="12875813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59"/>
              </a:lnSpc>
              <a:spcBef>
                <a:spcPct val="0"/>
              </a:spcBef>
            </a:pPr>
            <a:r>
              <a:rPr lang="en-US" sz="3299" strike="noStrike" u="sng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  <a:hlinkClick r:id="rId4" tooltip="https://github.com/LinkTrifuerza/Pipeline-de-datos-automatizado-ETL-"/>
              </a:rPr>
              <a:t>https://github.com/LinkTrifuerza/Pipeline-de-datos-automatizado-ETL-  </a:t>
            </a:r>
          </a:p>
          <a:p>
            <a:pPr algn="l" marL="0" indent="0" lvl="0">
              <a:lnSpc>
                <a:spcPts val="39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DAHKhnslLF8</dc:identifier>
  <dcterms:modified xsi:type="dcterms:W3CDTF">2011-08-01T06:04:30Z</dcterms:modified>
  <cp:revision>1</cp:revision>
  <dc:title>RetailPipeline_Expo.pptx</dc:title>
</cp:coreProperties>
</file>